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covers the Amazon Connect Voice Flow Automation repository — a comprehensive end-to-end testing framework for AWS contact centre solutions.
The framework has three major pillars: voice flow testing driven by the Chime SDK, Lambda regression testing using LocalStack, and Lex V2 bot NLU testing. We'll walk through each module, explain how it works, and show how everything ties together in CI/CD.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agenda covers five areas:
1. An overview of what this framework does and why it was built.
2. The underlying architecture — specifically how we use AWS Chime SDK to simulate real customer calls into Amazon Connect.
3. A deep dive into voice flow testing — including DTMF scripts, Contact Trace Record (CTR) validation, and CloudWatch log verification.
4. Lambda regression testing with LocalStack, which lets us run full AWS service integrations locally in Docker.
5. Lex bot NLU testing — multi-turn conversation flows, intent routing, and slot filling.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was built to solve a common problem: teams build Amazon Connect contact flows but have no automated way to regression-test them.
Key differentiators:
• It tests the FULL call path — from a simulated customer call, through the PSTN, into Connect routing, all the way to queue assignment and database state.
• Test cases are pure JSON, so QA engineers with no Python experience can add new scenarios.
• The MOCK_AWS mode lets developers run the full suite locally without incurring AWS charges.
• Validation goes beyond "did the call connect" — we check Contact Trace Records, CloudWatch logs, contact attributes, and DynamoDB side-effects.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the architecture step by step.
Step 1 — Test Runner: pytest reads the JSON test cases and orchestrates each test. It sets up DynamoDB state, configures pre-call attributes, and initiates the call.
Step 2 — Chime SDK: We use AWS Chime SIP Media Application to place a real outbound PSTN call to the Amazon Connect claimed phone number. A Lambda function handles the Chime call events and executes the call script — playing TTS, sending DTMF tones, and waiting for IVR prompts.
Step 3 — Amazon Connect: The call arrives as a real inbound call. The contact flow executes just as it would for a real customer.
Step 4 — Contact Flow: Routing logic runs — checking business hours, contact attributes, Lambda data dips, and DTMF choices.
Step 5 — Validation: After the call, we poll CloudWatch Logs (flow execution path), the CTR (contact trace record), and DynamoDB to verify every expected outcome. Hard failures are registered in pytest — there are no false greens.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flow testing is the heart of this framework.
Each test case defines:
- A destination phone number (your Amazon Connect claimed number)
- A call script: a sequence of wait, DTMF, and speak actions
- Expected outcomes: queue, contact attributes, and behavior type
The greetingPlayed attribute pattern is a real production use case — first-time callers hear a welcome message; returning callers skip straight to the menu. We test both branches.
The poll timeouts are carefully tuned: CTR records can take 1-3 minutes to index in Connect, so we poll for up to 5 minutes. CloudWatch Logs Insights queries are run asynchronously.
Every test has a pytest finalizer that tears down DynamoDB state to keep tests isolated and prevent cross-test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Lambda regression testing uses LocalStack — an open-source AWS cloud emulator that runs in Docker.
The workflow is fully automated:
1. Testcontainers spins up the LocalStack container once per session, so startup cost is paid once regardless of how many test cases you run.
2. The framework packages sample_lambda.py into a ZIP, creates the Lambda function, and sets up all dependent resources (S3 buckets, DynamoDB tables) as declared in the test case's "setup" block.
3. Each test case sends a trigger_event payload (e.g., an S3 PutObject event) and validates the response body, HTTP status code, and any side-effects like DynamoDB writes.
4. At the end of the run, pytest-html produces a visual HTML report and a JSON artefact suitable for CI systems.
Zero real AWS API calls are made in local mode — this means zero cloud costs and consistent, reproducible results in any CI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 V2 bot testing covers the full NLU pipeline.
Key testing capabilities:
- Single-turn: send an utterance, validate the intent name, slot values, and the exact bot response message (case-insensitive substring matching).
- Multi-turn: maintain a session across multiple turns using a unique session ID per test. Validate dialog state at each step.
- Fallback testing: verifies that unrecognised input correctly routes to the FallbackIntent. This is often missed in manual testing.
- Session attributes: inject attributes at the start of a conversation and verify they're preserved and accessible throughout. This is critical for personalization flows.
All 6 dialog states are covered: ElicitSlot, ConfirmIntent, Fulfilled, ReadyForFulfillment, Failed, and Close. This gives complete coverage of the Lex V2 dialog management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ships with a pre-configured GitHub Actions workflow.
The pipeline runs in two modes:
- Mock mode (MOCK_AWS=true): runs by default, no AWS credentials needed, suitable for every PR and push.
- Real mode (MOCK_AWS=false): requires an OIDC trust relationship between GitHub and the AWS IAM role. This is the recommended approach — no long-lived access keys stored in secrets.
Three GitHub secrets are required: the IAM role ARN, the AWS region, and the Connect instance ID.
The workflow uploads HTML and JSON test reports as artefacts, so you can review results directly in the GitHub Actions UI without needing local access to AWS.
Tip: the .github folder must be at the repository root for Actions to detect the workflow. If this project is a subdirectory of a larger monorepo, move the .github folder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stack is deliberately lightweight and uses all standard open-source tools.
Core: Python with pytest gives the familiar testing experience. boto3 is the official AWS SDK.
Emulation: LocalStack is the star of the Lambda testing suite — it emulates Lambda, S3, DynamoDB, and other AWS services in Docker. Testcontainers manages the container lifecycle from within pytest.
AWS Services: The three main AWS services under test are Amazon Connect, Chime SDK (for call simulation), and Amazon Lex V2 (for NLU testing). Supporting services include Lambda, DynamoDB, S3, and CloudWatch Logs.
Tooling: python-dotenv handles multi-level environment config (test-suite .env overrides repo root .env). pytest-html produces visual reports. GitHub Actions ties it all together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breadth of test coverage across all three modules.
Voice flows: 12 test cases cover the full IVR tree — happy-path routing, returning-caller detection, every DTMF branch, after-hours handling, error recovery, callback scheduling, and multi-turn DTMF authentication.
Lambda: 8 test cases cover the major Lambda event types (S3, DynamoDB streams), error paths, and side-effect validation. All run against LocalStack with zero cloud cost.
Lex: 8 test categories cover the complete Lex V2 dialog lifecycle — from single intent recognition through complex multi-turn conversations with session context.
The total number of test cases grows as the JSON files grow — teams can add new scenarios without writing any Python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is straightforward — the entire framework is runnable in under 10 minutes.
Steps 1-3: Clone, install deps, configure .env. The key variables are MOCK_AWS (set to true for local development), CONNECT_INSTANCE_ID, CHIME_PHONE_NUMBER, and CHIME_SMA_ID.
Step 4: Run voice tests in mock mode first. This validates the test runner, JSON parsing, and fixture setup without needing real AWS.
Step 5: Lambda tests require Docker (for LocalStack). Run the shell script — it handles container lifecycle automatically.
Step 6: Lex tests require real AWS credentials pointing at a Lex V2 bot. Set LEX_BOT_ID, LEX_BOT_ALIAS_ID, and LEX_LOCALE_ID in your .env.
For CI, push to GitHub and add the three required secrets. The Actions workflow runs mock tests immediately and real tests when credentials are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slideLayout" Target="../slideLayouts/slideLayout1.xml"/><Relationship Id="rId3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C39A"/>
          </a:solidFill>
          <a:ln/>
        </p:spPr>
      </p:sp>
      <p:sp>
        <p:nvSpPr>
          <p:cNvPr id="3" name="Shape 1"/>
          <p:cNvSpPr/>
          <p:nvPr/>
        </p:nvSpPr>
        <p:spPr>
          <a:xfrm>
            <a:off x="201168" y="1993392"/>
            <a:ext cx="8942832" cy="411480"/>
          </a:xfrm>
          <a:prstGeom prst="rect">
            <a:avLst/>
          </a:prstGeom>
          <a:solidFill>
            <a:srgbClr val="065A82"/>
          </a:solidFill>
          <a:ln/>
        </p:spPr>
      </p:sp>
      <p:sp>
        <p:nvSpPr>
          <p:cNvPr id="4" name="Text 2"/>
          <p:cNvSpPr/>
          <p:nvPr/>
        </p:nvSpPr>
        <p:spPr>
          <a:xfrm>
            <a:off x="457200" y="2011680"/>
            <a:ext cx="8503920" cy="347472"/>
          </a:xfrm>
          <a:prstGeom prst="rect">
            <a:avLst/>
          </a:prstGeom>
          <a:noFill/>
          <a:ln/>
        </p:spPr>
        <p:txBody>
          <a:bodyPr wrap="square" lIns="0" tIns="0" rIns="0" bIns="0" rtlCol="0" anchor="ctr"/>
          <a:lstStyle/>
          <a:p>
            <a:pPr indent="0" marL="0">
              <a:buNone/>
            </a:pPr>
            <a:r>
              <a:rPr lang="en-US" sz="1000" i="1" dirty="0">
                <a:solidFill>
                  <a:srgbClr val="B8D4E8"/>
                </a:solidFill>
                <a:latin typeface="Calibri" pitchFamily="34" charset="0"/>
                <a:ea typeface="Calibri" pitchFamily="34" charset="-122"/>
                <a:cs typeface="Calibri" pitchFamily="34" charset="-120"/>
              </a:rPr>
              <a:t>AWS  ·  boto3  ·  pytest  ·  LocalStack  ·  Chime SDK  ·  Lex V2</a:t>
            </a:r>
            <a:endParaRPr lang="en-US" sz="1000" dirty="0"/>
          </a:p>
        </p:txBody>
      </p:sp>
      <p:sp>
        <p:nvSpPr>
          <p:cNvPr id="5" name="Text 3"/>
          <p:cNvSpPr/>
          <p:nvPr/>
        </p:nvSpPr>
        <p:spPr>
          <a:xfrm>
            <a:off x="457200" y="502920"/>
            <a:ext cx="8412480" cy="621792"/>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Amazon Connect</a:t>
            </a:r>
            <a:endParaRPr lang="en-US" sz="4600" dirty="0"/>
          </a:p>
        </p:txBody>
      </p:sp>
      <p:sp>
        <p:nvSpPr>
          <p:cNvPr id="6" name="Text 4"/>
          <p:cNvSpPr/>
          <p:nvPr/>
        </p:nvSpPr>
        <p:spPr>
          <a:xfrm>
            <a:off x="457200" y="1115568"/>
            <a:ext cx="8412480" cy="621792"/>
          </a:xfrm>
          <a:prstGeom prst="rect">
            <a:avLst/>
          </a:prstGeom>
          <a:noFill/>
          <a:ln/>
        </p:spPr>
        <p:txBody>
          <a:bodyPr wrap="square" lIns="0" tIns="0" rIns="0" bIns="0" rtlCol="0" anchor="ctr"/>
          <a:lstStyle/>
          <a:p>
            <a:pPr indent="0" marL="0">
              <a:buNone/>
            </a:pPr>
            <a:r>
              <a:rPr lang="en-US" sz="3800" dirty="0">
                <a:solidFill>
                  <a:srgbClr val="B8D4E8"/>
                </a:solidFill>
                <a:latin typeface="Calibri" pitchFamily="34" charset="0"/>
                <a:ea typeface="Calibri" pitchFamily="34" charset="-122"/>
                <a:cs typeface="Calibri" pitchFamily="34" charset="-120"/>
              </a:rPr>
              <a:t>Voice Flow Automation</a:t>
            </a:r>
            <a:endParaRPr lang="en-US" sz="3800" dirty="0"/>
          </a:p>
        </p:txBody>
      </p:sp>
      <p:sp>
        <p:nvSpPr>
          <p:cNvPr id="7" name="Text 5"/>
          <p:cNvSpPr/>
          <p:nvPr/>
        </p:nvSpPr>
        <p:spPr>
          <a:xfrm>
            <a:off x="457200" y="2542032"/>
            <a:ext cx="5943600" cy="822960"/>
          </a:xfrm>
          <a:prstGeom prst="rect">
            <a:avLst/>
          </a:prstGeom>
          <a:noFill/>
          <a:ln/>
        </p:spPr>
        <p:txBody>
          <a:bodyPr wrap="square" lIns="0" tIns="0" rIns="0" bIns="0" rtlCol="0" anchor="ctr"/>
          <a:lstStyle/>
          <a:p>
            <a:pPr indent="0" marL="0">
              <a:lnSpc>
                <a:spcPct val="130000"/>
              </a:lnSpc>
              <a:buNone/>
            </a:pPr>
            <a:r>
              <a:rPr lang="en-US" sz="1400" dirty="0">
                <a:solidFill>
                  <a:srgbClr val="B8D4E8"/>
                </a:solidFill>
                <a:latin typeface="Calibri" pitchFamily="34" charset="0"/>
                <a:ea typeface="Calibri" pitchFamily="34" charset="-122"/>
                <a:cs typeface="Calibri" pitchFamily="34" charset="-120"/>
              </a:rPr>
              <a:t>A production-ready Python testing framework for</a:t>
            </a:r>
            <a:endParaRPr lang="en-US" sz="1400" dirty="0"/>
          </a:p>
          <a:p>
            <a:pPr indent="0" marL="0">
              <a:lnSpc>
                <a:spcPct val="130000"/>
              </a:lnSpc>
              <a:buNone/>
            </a:pPr>
            <a:r>
              <a:rPr lang="en-US" sz="1400" dirty="0">
                <a:solidFill>
                  <a:srgbClr val="B8D4E8"/>
                </a:solidFill>
                <a:latin typeface="Calibri" pitchFamily="34" charset="0"/>
                <a:ea typeface="Calibri" pitchFamily="34" charset="-122"/>
                <a:cs typeface="Calibri" pitchFamily="34" charset="-120"/>
              </a:rPr>
              <a:t>contact centre flows, Lambda functions, and Lex bots</a:t>
            </a:r>
            <a:endParaRPr lang="en-US" sz="1400" dirty="0"/>
          </a:p>
        </p:txBody>
      </p:sp>
      <p:sp>
        <p:nvSpPr>
          <p:cNvPr id="8" name="Shape 6"/>
          <p:cNvSpPr/>
          <p:nvPr/>
        </p:nvSpPr>
        <p:spPr>
          <a:xfrm>
            <a:off x="457200" y="3639312"/>
            <a:ext cx="2176272" cy="475488"/>
          </a:xfrm>
          <a:prstGeom prst="rect">
            <a:avLst>
              <a:gd name="adj" fmla="val 15385"/>
            </a:avLst>
          </a:prstGeom>
          <a:solidFill>
            <a:srgbClr val="1C7293"/>
          </a:solidFill>
          <a:ln/>
          <a:effectLst>
            <a:outerShdw sx="100000" sy="100000" kx="0" ky="0" algn="bl" rotWithShape="0" blurRad="101600" dist="38100" dir="8100000">
              <a:srgbClr val="000000">
                <a:alpha val="12000"/>
              </a:srgbClr>
            </a:outerShdw>
          </a:effectLst>
        </p:spPr>
      </p:sp>
      <p:sp>
        <p:nvSpPr>
          <p:cNvPr id="9" name="Text 7"/>
          <p:cNvSpPr/>
          <p:nvPr/>
        </p:nvSpPr>
        <p:spPr>
          <a:xfrm>
            <a:off x="457200" y="3639312"/>
            <a:ext cx="2176272"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Voice Flow Testing</a:t>
            </a:r>
            <a:endParaRPr lang="en-US" sz="1100" dirty="0"/>
          </a:p>
        </p:txBody>
      </p:sp>
      <p:sp>
        <p:nvSpPr>
          <p:cNvPr id="10" name="Shape 8"/>
          <p:cNvSpPr/>
          <p:nvPr/>
        </p:nvSpPr>
        <p:spPr>
          <a:xfrm>
            <a:off x="2944368" y="3639312"/>
            <a:ext cx="2176272" cy="475488"/>
          </a:xfrm>
          <a:prstGeom prst="rect">
            <a:avLst>
              <a:gd name="adj" fmla="val 15385"/>
            </a:avLst>
          </a:prstGeom>
          <a:solidFill>
            <a:srgbClr val="1C7293"/>
          </a:solidFill>
          <a:ln/>
          <a:effectLst>
            <a:outerShdw sx="100000" sy="100000" kx="0" ky="0" algn="bl" rotWithShape="0" blurRad="101600" dist="38100" dir="8100000">
              <a:srgbClr val="000000">
                <a:alpha val="12000"/>
              </a:srgbClr>
            </a:outerShdw>
          </a:effectLst>
        </p:spPr>
      </p:sp>
      <p:sp>
        <p:nvSpPr>
          <p:cNvPr id="11" name="Text 9"/>
          <p:cNvSpPr/>
          <p:nvPr/>
        </p:nvSpPr>
        <p:spPr>
          <a:xfrm>
            <a:off x="2944368" y="3639312"/>
            <a:ext cx="2176272"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Lambda Regression</a:t>
            </a:r>
            <a:endParaRPr lang="en-US" sz="1100" dirty="0"/>
          </a:p>
        </p:txBody>
      </p:sp>
      <p:sp>
        <p:nvSpPr>
          <p:cNvPr id="12" name="Shape 10"/>
          <p:cNvSpPr/>
          <p:nvPr/>
        </p:nvSpPr>
        <p:spPr>
          <a:xfrm>
            <a:off x="5431536" y="3639312"/>
            <a:ext cx="2176272" cy="475488"/>
          </a:xfrm>
          <a:prstGeom prst="rect">
            <a:avLst>
              <a:gd name="adj" fmla="val 15385"/>
            </a:avLst>
          </a:prstGeom>
          <a:solidFill>
            <a:srgbClr val="1C7293"/>
          </a:solidFill>
          <a:ln/>
          <a:effectLst>
            <a:outerShdw sx="100000" sy="100000" kx="0" ky="0" algn="bl" rotWithShape="0" blurRad="101600" dist="38100" dir="8100000">
              <a:srgbClr val="000000">
                <a:alpha val="12000"/>
              </a:srgbClr>
            </a:outerShdw>
          </a:effectLst>
        </p:spPr>
      </p:sp>
      <p:sp>
        <p:nvSpPr>
          <p:cNvPr id="13" name="Text 11"/>
          <p:cNvSpPr/>
          <p:nvPr/>
        </p:nvSpPr>
        <p:spPr>
          <a:xfrm>
            <a:off x="5431536" y="3639312"/>
            <a:ext cx="2176272"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Lex Bot NLU</a:t>
            </a:r>
            <a:endParaRPr lang="en-US" sz="1100" dirty="0"/>
          </a:p>
        </p:txBody>
      </p:sp>
      <p:sp>
        <p:nvSpPr>
          <p:cNvPr id="14" name="Text 12"/>
          <p:cNvSpPr/>
          <p:nvPr/>
        </p:nvSpPr>
        <p:spPr>
          <a:xfrm>
            <a:off x="457200" y="4370832"/>
            <a:ext cx="3657600" cy="256032"/>
          </a:xfrm>
          <a:prstGeom prst="rect">
            <a:avLst/>
          </a:prstGeom>
          <a:noFill/>
          <a:ln/>
        </p:spPr>
        <p:txBody>
          <a:bodyPr wrap="square" lIns="0" tIns="0" rIns="0" bIns="0" rtlCol="0" anchor="ctr"/>
          <a:lstStyle/>
          <a:p>
            <a:pPr indent="0" marL="0">
              <a:buNone/>
            </a:pPr>
            <a:r>
              <a:rPr lang="en-US" sz="900" i="1" dirty="0">
                <a:solidFill>
                  <a:srgbClr val="B8D4E8"/>
                </a:solidFill>
                <a:latin typeface="Calibri" pitchFamily="34" charset="0"/>
                <a:ea typeface="Calibri" pitchFamily="34" charset="-122"/>
                <a:cs typeface="Calibri" pitchFamily="34" charset="-120"/>
              </a:rPr>
              <a:t>February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BF5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65A82"/>
          </a:solidFill>
          <a:ln/>
        </p:spPr>
      </p:sp>
      <p:sp>
        <p:nvSpPr>
          <p:cNvPr id="3" name="Text 1"/>
          <p:cNvSpPr/>
          <p:nvPr/>
        </p:nvSpPr>
        <p:spPr>
          <a:xfrm>
            <a:off x="411480" y="64008"/>
            <a:ext cx="77724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Agenda</a:t>
            </a:r>
            <a:endParaRPr lang="en-US" sz="2200" dirty="0"/>
          </a:p>
        </p:txBody>
      </p:sp>
      <p:sp>
        <p:nvSpPr>
          <p:cNvPr id="4" name="Shape 2"/>
          <p:cNvSpPr/>
          <p:nvPr/>
        </p:nvSpPr>
        <p:spPr>
          <a:xfrm>
            <a:off x="0" y="4892040"/>
            <a:ext cx="9144000" cy="251460"/>
          </a:xfrm>
          <a:prstGeom prst="rect">
            <a:avLst/>
          </a:prstGeom>
          <a:solidFill>
            <a:srgbClr val="065A82"/>
          </a:solidFill>
          <a:ln/>
        </p:spPr>
      </p:sp>
      <p:sp>
        <p:nvSpPr>
          <p:cNvPr id="5" name="Text 3"/>
          <p:cNvSpPr/>
          <p:nvPr/>
        </p:nvSpPr>
        <p:spPr>
          <a:xfrm>
            <a:off x="457200" y="4901184"/>
            <a:ext cx="7315200" cy="228600"/>
          </a:xfrm>
          <a:prstGeom prst="rect">
            <a:avLst/>
          </a:prstGeom>
          <a:noFill/>
          <a:ln/>
        </p:spPr>
        <p:txBody>
          <a:bodyPr wrap="square" lIns="0" tIns="0" rIns="0" bIns="0" rtlCol="0" anchor="ctr"/>
          <a:lstStyle/>
          <a:p>
            <a:pPr indent="0" marL="0">
              <a:buNone/>
            </a:pPr>
            <a:r>
              <a:rPr lang="en-US" sz="800" dirty="0">
                <a:solidFill>
                  <a:srgbClr val="B8D4E8"/>
                </a:solidFill>
                <a:latin typeface="Calibri" pitchFamily="34" charset="0"/>
                <a:ea typeface="Calibri" pitchFamily="34" charset="-122"/>
                <a:cs typeface="Calibri" pitchFamily="34" charset="-120"/>
              </a:rPr>
              <a:t>Amazon Connect Automation Testing Framework  |  Confidential</a:t>
            </a:r>
            <a:endParaRPr lang="en-US" sz="800" dirty="0"/>
          </a:p>
        </p:txBody>
      </p:sp>
      <p:sp>
        <p:nvSpPr>
          <p:cNvPr id="6" name="Shape 4"/>
          <p:cNvSpPr/>
          <p:nvPr/>
        </p:nvSpPr>
        <p:spPr>
          <a:xfrm>
            <a:off x="365760" y="777240"/>
            <a:ext cx="8412480" cy="6583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777240"/>
            <a:ext cx="182880" cy="658368"/>
          </a:xfrm>
          <a:prstGeom prst="rect">
            <a:avLst/>
          </a:prstGeom>
          <a:solidFill>
            <a:srgbClr val="065A82"/>
          </a:solidFill>
          <a:ln/>
        </p:spPr>
      </p:sp>
      <p:sp>
        <p:nvSpPr>
          <p:cNvPr id="8" name="Shape 6"/>
          <p:cNvSpPr/>
          <p:nvPr/>
        </p:nvSpPr>
        <p:spPr>
          <a:xfrm>
            <a:off x="658368" y="877824"/>
            <a:ext cx="457200" cy="457200"/>
          </a:xfrm>
          <a:prstGeom prst="oval">
            <a:avLst/>
          </a:prstGeom>
          <a:solidFill>
            <a:srgbClr val="065A82"/>
          </a:solidFill>
          <a:ln/>
        </p:spPr>
      </p:sp>
      <p:pic>
        <p:nvPicPr>
          <p:cNvPr id="9" name="Image 0" descr="preencoded.png">    </p:cNvPr>
          <p:cNvPicPr>
            <a:picLocks noChangeAspect="1"/>
          </p:cNvPicPr>
          <p:nvPr/>
        </p:nvPicPr>
        <p:blipFill>
          <a:blip r:embed="rId1"/>
          <a:stretch>
            <a:fillRect/>
          </a:stretch>
        </p:blipFill>
        <p:spPr>
          <a:xfrm>
            <a:off x="704088" y="923544"/>
            <a:ext cx="365760" cy="365760"/>
          </a:xfrm>
          <a:prstGeom prst="rect">
            <a:avLst/>
          </a:prstGeom>
        </p:spPr>
      </p:pic>
      <p:sp>
        <p:nvSpPr>
          <p:cNvPr id="10" name="Text 7"/>
          <p:cNvSpPr/>
          <p:nvPr/>
        </p:nvSpPr>
        <p:spPr>
          <a:xfrm>
            <a:off x="1234440" y="841248"/>
            <a:ext cx="7132320" cy="256032"/>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1  ·  What Is This Framework?</a:t>
            </a:r>
            <a:endParaRPr lang="en-US" sz="1300" dirty="0"/>
          </a:p>
        </p:txBody>
      </p:sp>
      <p:sp>
        <p:nvSpPr>
          <p:cNvPr id="11" name="Text 8"/>
          <p:cNvSpPr/>
          <p:nvPr/>
        </p:nvSpPr>
        <p:spPr>
          <a:xfrm>
            <a:off x="1234440" y="1115568"/>
            <a:ext cx="7132320" cy="219456"/>
          </a:xfrm>
          <a:prstGeom prst="rect">
            <a:avLst/>
          </a:prstGeom>
          <a:noFill/>
          <a:ln/>
        </p:spPr>
        <p:txBody>
          <a:bodyPr wrap="square" lIns="0" tIns="0" rIns="0" bIns="0" rtlCol="0" anchor="ctr"/>
          <a:lstStyle/>
          <a:p>
            <a:pPr indent="0" marL="0">
              <a:buNone/>
            </a:pPr>
            <a:r>
              <a:rPr lang="en-US" sz="1000" i="1" dirty="0">
                <a:solidFill>
                  <a:srgbClr val="2C5F7A"/>
                </a:solidFill>
                <a:latin typeface="Calibri" pitchFamily="34" charset="0"/>
                <a:ea typeface="Calibri" pitchFamily="34" charset="-122"/>
                <a:cs typeface="Calibri" pitchFamily="34" charset="-120"/>
              </a:rPr>
              <a:t>Purpose, scope, and key capabilities</a:t>
            </a:r>
            <a:endParaRPr lang="en-US" sz="1000" dirty="0"/>
          </a:p>
        </p:txBody>
      </p:sp>
      <p:sp>
        <p:nvSpPr>
          <p:cNvPr id="12" name="Shape 9"/>
          <p:cNvSpPr/>
          <p:nvPr/>
        </p:nvSpPr>
        <p:spPr>
          <a:xfrm>
            <a:off x="365760" y="1572768"/>
            <a:ext cx="8412480" cy="6583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Shape 10"/>
          <p:cNvSpPr/>
          <p:nvPr/>
        </p:nvSpPr>
        <p:spPr>
          <a:xfrm>
            <a:off x="365760" y="1572768"/>
            <a:ext cx="182880" cy="658368"/>
          </a:xfrm>
          <a:prstGeom prst="rect">
            <a:avLst/>
          </a:prstGeom>
          <a:solidFill>
            <a:srgbClr val="065A82"/>
          </a:solidFill>
          <a:ln/>
        </p:spPr>
      </p:sp>
      <p:sp>
        <p:nvSpPr>
          <p:cNvPr id="14" name="Shape 11"/>
          <p:cNvSpPr/>
          <p:nvPr/>
        </p:nvSpPr>
        <p:spPr>
          <a:xfrm>
            <a:off x="658368" y="1673352"/>
            <a:ext cx="457200" cy="457200"/>
          </a:xfrm>
          <a:prstGeom prst="oval">
            <a:avLst/>
          </a:prstGeom>
          <a:solidFill>
            <a:srgbClr val="065A82"/>
          </a:solidFill>
          <a:ln/>
        </p:spPr>
      </p:sp>
      <p:pic>
        <p:nvPicPr>
          <p:cNvPr id="15" name="Image 1" descr="preencoded.png">    </p:cNvPr>
          <p:cNvPicPr>
            <a:picLocks noChangeAspect="1"/>
          </p:cNvPicPr>
          <p:nvPr/>
        </p:nvPicPr>
        <p:blipFill>
          <a:blip r:embed="rId2"/>
          <a:stretch>
            <a:fillRect/>
          </a:stretch>
        </p:blipFill>
        <p:spPr>
          <a:xfrm>
            <a:off x="704088" y="1719072"/>
            <a:ext cx="365760" cy="365760"/>
          </a:xfrm>
          <a:prstGeom prst="rect">
            <a:avLst/>
          </a:prstGeom>
        </p:spPr>
      </p:pic>
      <p:sp>
        <p:nvSpPr>
          <p:cNvPr id="16" name="Text 12"/>
          <p:cNvSpPr/>
          <p:nvPr/>
        </p:nvSpPr>
        <p:spPr>
          <a:xfrm>
            <a:off x="1234440" y="1636776"/>
            <a:ext cx="7132320" cy="256032"/>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2  ·  Architecture Deep Dive</a:t>
            </a:r>
            <a:endParaRPr lang="en-US" sz="1300" dirty="0"/>
          </a:p>
        </p:txBody>
      </p:sp>
      <p:sp>
        <p:nvSpPr>
          <p:cNvPr id="17" name="Text 13"/>
          <p:cNvSpPr/>
          <p:nvPr/>
        </p:nvSpPr>
        <p:spPr>
          <a:xfrm>
            <a:off x="1234440" y="1911096"/>
            <a:ext cx="7132320" cy="219456"/>
          </a:xfrm>
          <a:prstGeom prst="rect">
            <a:avLst/>
          </a:prstGeom>
          <a:noFill/>
          <a:ln/>
        </p:spPr>
        <p:txBody>
          <a:bodyPr wrap="square" lIns="0" tIns="0" rIns="0" bIns="0" rtlCol="0" anchor="ctr"/>
          <a:lstStyle/>
          <a:p>
            <a:pPr indent="0" marL="0">
              <a:buNone/>
            </a:pPr>
            <a:r>
              <a:rPr lang="en-US" sz="1000" i="1" dirty="0">
                <a:solidFill>
                  <a:srgbClr val="2C5F7A"/>
                </a:solidFill>
                <a:latin typeface="Calibri" pitchFamily="34" charset="0"/>
                <a:ea typeface="Calibri" pitchFamily="34" charset="-122"/>
                <a:cs typeface="Calibri" pitchFamily="34" charset="-120"/>
              </a:rPr>
              <a:t>How Chime SDK drives Amazon Connect calls</a:t>
            </a:r>
            <a:endParaRPr lang="en-US" sz="1000" dirty="0"/>
          </a:p>
        </p:txBody>
      </p:sp>
      <p:sp>
        <p:nvSpPr>
          <p:cNvPr id="18" name="Shape 14"/>
          <p:cNvSpPr/>
          <p:nvPr/>
        </p:nvSpPr>
        <p:spPr>
          <a:xfrm>
            <a:off x="365760" y="2368296"/>
            <a:ext cx="8412480" cy="6583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Shape 15"/>
          <p:cNvSpPr/>
          <p:nvPr/>
        </p:nvSpPr>
        <p:spPr>
          <a:xfrm>
            <a:off x="365760" y="2368296"/>
            <a:ext cx="182880" cy="658368"/>
          </a:xfrm>
          <a:prstGeom prst="rect">
            <a:avLst/>
          </a:prstGeom>
          <a:solidFill>
            <a:srgbClr val="1C7293"/>
          </a:solidFill>
          <a:ln/>
        </p:spPr>
      </p:sp>
      <p:sp>
        <p:nvSpPr>
          <p:cNvPr id="20" name="Shape 16"/>
          <p:cNvSpPr/>
          <p:nvPr/>
        </p:nvSpPr>
        <p:spPr>
          <a:xfrm>
            <a:off x="658368" y="2468880"/>
            <a:ext cx="457200" cy="457200"/>
          </a:xfrm>
          <a:prstGeom prst="oval">
            <a:avLst/>
          </a:prstGeom>
          <a:solidFill>
            <a:srgbClr val="1C7293"/>
          </a:solidFill>
          <a:ln/>
        </p:spPr>
      </p:sp>
      <p:pic>
        <p:nvPicPr>
          <p:cNvPr id="21" name="Image 2" descr="preencoded.png">    </p:cNvPr>
          <p:cNvPicPr>
            <a:picLocks noChangeAspect="1"/>
          </p:cNvPicPr>
          <p:nvPr/>
        </p:nvPicPr>
        <p:blipFill>
          <a:blip r:embed="rId3"/>
          <a:stretch>
            <a:fillRect/>
          </a:stretch>
        </p:blipFill>
        <p:spPr>
          <a:xfrm>
            <a:off x="704088" y="2514600"/>
            <a:ext cx="365760" cy="365760"/>
          </a:xfrm>
          <a:prstGeom prst="rect">
            <a:avLst/>
          </a:prstGeom>
        </p:spPr>
      </p:pic>
      <p:sp>
        <p:nvSpPr>
          <p:cNvPr id="22" name="Text 17"/>
          <p:cNvSpPr/>
          <p:nvPr/>
        </p:nvSpPr>
        <p:spPr>
          <a:xfrm>
            <a:off x="1234440" y="2432304"/>
            <a:ext cx="7132320" cy="256032"/>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3  ·  Voice Flow Testing</a:t>
            </a:r>
            <a:endParaRPr lang="en-US" sz="1300" dirty="0"/>
          </a:p>
        </p:txBody>
      </p:sp>
      <p:sp>
        <p:nvSpPr>
          <p:cNvPr id="23" name="Text 18"/>
          <p:cNvSpPr/>
          <p:nvPr/>
        </p:nvSpPr>
        <p:spPr>
          <a:xfrm>
            <a:off x="1234440" y="2706624"/>
            <a:ext cx="7132320" cy="219456"/>
          </a:xfrm>
          <a:prstGeom prst="rect">
            <a:avLst/>
          </a:prstGeom>
          <a:noFill/>
          <a:ln/>
        </p:spPr>
        <p:txBody>
          <a:bodyPr wrap="square" lIns="0" tIns="0" rIns="0" bIns="0" rtlCol="0" anchor="ctr"/>
          <a:lstStyle/>
          <a:p>
            <a:pPr indent="0" marL="0">
              <a:buNone/>
            </a:pPr>
            <a:r>
              <a:rPr lang="en-US" sz="1000" i="1" dirty="0">
                <a:solidFill>
                  <a:srgbClr val="2C5F7A"/>
                </a:solidFill>
                <a:latin typeface="Calibri" pitchFamily="34" charset="0"/>
                <a:ea typeface="Calibri" pitchFamily="34" charset="-122"/>
                <a:cs typeface="Calibri" pitchFamily="34" charset="-120"/>
              </a:rPr>
              <a:t>DTMF scripting, CTR validation, CloudWatch</a:t>
            </a:r>
            <a:endParaRPr lang="en-US" sz="1000" dirty="0"/>
          </a:p>
        </p:txBody>
      </p:sp>
      <p:sp>
        <p:nvSpPr>
          <p:cNvPr id="24" name="Shape 19"/>
          <p:cNvSpPr/>
          <p:nvPr/>
        </p:nvSpPr>
        <p:spPr>
          <a:xfrm>
            <a:off x="365760" y="3163824"/>
            <a:ext cx="8412480" cy="6583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5" name="Shape 20"/>
          <p:cNvSpPr/>
          <p:nvPr/>
        </p:nvSpPr>
        <p:spPr>
          <a:xfrm>
            <a:off x="365760" y="3163824"/>
            <a:ext cx="182880" cy="658368"/>
          </a:xfrm>
          <a:prstGeom prst="rect">
            <a:avLst/>
          </a:prstGeom>
          <a:solidFill>
            <a:srgbClr val="1C7293"/>
          </a:solidFill>
          <a:ln/>
        </p:spPr>
      </p:sp>
      <p:sp>
        <p:nvSpPr>
          <p:cNvPr id="26" name="Shape 21"/>
          <p:cNvSpPr/>
          <p:nvPr/>
        </p:nvSpPr>
        <p:spPr>
          <a:xfrm>
            <a:off x="658368" y="3264408"/>
            <a:ext cx="457200" cy="457200"/>
          </a:xfrm>
          <a:prstGeom prst="oval">
            <a:avLst/>
          </a:prstGeom>
          <a:solidFill>
            <a:srgbClr val="1C7293"/>
          </a:solidFill>
          <a:ln/>
        </p:spPr>
      </p:sp>
      <p:pic>
        <p:nvPicPr>
          <p:cNvPr id="27" name="Image 3" descr="preencoded.png">    </p:cNvPr>
          <p:cNvPicPr>
            <a:picLocks noChangeAspect="1"/>
          </p:cNvPicPr>
          <p:nvPr/>
        </p:nvPicPr>
        <p:blipFill>
          <a:blip r:embed="rId4"/>
          <a:stretch>
            <a:fillRect/>
          </a:stretch>
        </p:blipFill>
        <p:spPr>
          <a:xfrm>
            <a:off x="704088" y="3310128"/>
            <a:ext cx="365760" cy="365760"/>
          </a:xfrm>
          <a:prstGeom prst="rect">
            <a:avLst/>
          </a:prstGeom>
        </p:spPr>
      </p:pic>
      <p:sp>
        <p:nvSpPr>
          <p:cNvPr id="28" name="Text 22"/>
          <p:cNvSpPr/>
          <p:nvPr/>
        </p:nvSpPr>
        <p:spPr>
          <a:xfrm>
            <a:off x="1234440" y="3227832"/>
            <a:ext cx="7132320" cy="256032"/>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4  ·  Lambda &amp; LocalStack Testing</a:t>
            </a:r>
            <a:endParaRPr lang="en-US" sz="1300" dirty="0"/>
          </a:p>
        </p:txBody>
      </p:sp>
      <p:sp>
        <p:nvSpPr>
          <p:cNvPr id="29" name="Text 23"/>
          <p:cNvSpPr/>
          <p:nvPr/>
        </p:nvSpPr>
        <p:spPr>
          <a:xfrm>
            <a:off x="1234440" y="3502152"/>
            <a:ext cx="7132320" cy="219456"/>
          </a:xfrm>
          <a:prstGeom prst="rect">
            <a:avLst/>
          </a:prstGeom>
          <a:noFill/>
          <a:ln/>
        </p:spPr>
        <p:txBody>
          <a:bodyPr wrap="square" lIns="0" tIns="0" rIns="0" bIns="0" rtlCol="0" anchor="ctr"/>
          <a:lstStyle/>
          <a:p>
            <a:pPr indent="0" marL="0">
              <a:buNone/>
            </a:pPr>
            <a:r>
              <a:rPr lang="en-US" sz="1000" i="1" dirty="0">
                <a:solidFill>
                  <a:srgbClr val="2C5F7A"/>
                </a:solidFill>
                <a:latin typeface="Calibri" pitchFamily="34" charset="0"/>
                <a:ea typeface="Calibri" pitchFamily="34" charset="-122"/>
                <a:cs typeface="Calibri" pitchFamily="34" charset="-120"/>
              </a:rPr>
              <a:t>Containerised regression without cloud costs</a:t>
            </a:r>
            <a:endParaRPr lang="en-US" sz="1000" dirty="0"/>
          </a:p>
        </p:txBody>
      </p:sp>
      <p:sp>
        <p:nvSpPr>
          <p:cNvPr id="30" name="Shape 24"/>
          <p:cNvSpPr/>
          <p:nvPr/>
        </p:nvSpPr>
        <p:spPr>
          <a:xfrm>
            <a:off x="365760" y="3959352"/>
            <a:ext cx="8412480" cy="6583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1" name="Shape 25"/>
          <p:cNvSpPr/>
          <p:nvPr/>
        </p:nvSpPr>
        <p:spPr>
          <a:xfrm>
            <a:off x="365760" y="3959352"/>
            <a:ext cx="182880" cy="658368"/>
          </a:xfrm>
          <a:prstGeom prst="rect">
            <a:avLst/>
          </a:prstGeom>
          <a:solidFill>
            <a:srgbClr val="02C39A"/>
          </a:solidFill>
          <a:ln/>
        </p:spPr>
      </p:sp>
      <p:sp>
        <p:nvSpPr>
          <p:cNvPr id="32" name="Shape 26"/>
          <p:cNvSpPr/>
          <p:nvPr/>
        </p:nvSpPr>
        <p:spPr>
          <a:xfrm>
            <a:off x="658368" y="4059936"/>
            <a:ext cx="457200" cy="457200"/>
          </a:xfrm>
          <a:prstGeom prst="oval">
            <a:avLst/>
          </a:prstGeom>
          <a:solidFill>
            <a:srgbClr val="02C39A"/>
          </a:solidFill>
          <a:ln/>
        </p:spPr>
      </p:sp>
      <p:pic>
        <p:nvPicPr>
          <p:cNvPr id="33" name="Image 4" descr="preencoded.png">    </p:cNvPr>
          <p:cNvPicPr>
            <a:picLocks noChangeAspect="1"/>
          </p:cNvPicPr>
          <p:nvPr/>
        </p:nvPicPr>
        <p:blipFill>
          <a:blip r:embed="rId5"/>
          <a:stretch>
            <a:fillRect/>
          </a:stretch>
        </p:blipFill>
        <p:spPr>
          <a:xfrm>
            <a:off x="704088" y="4105656"/>
            <a:ext cx="365760" cy="365760"/>
          </a:xfrm>
          <a:prstGeom prst="rect">
            <a:avLst/>
          </a:prstGeom>
        </p:spPr>
      </p:pic>
      <p:sp>
        <p:nvSpPr>
          <p:cNvPr id="34" name="Text 27"/>
          <p:cNvSpPr/>
          <p:nvPr/>
        </p:nvSpPr>
        <p:spPr>
          <a:xfrm>
            <a:off x="1234440" y="4023360"/>
            <a:ext cx="7132320" cy="256032"/>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5  ·  Lex Bot NLU Testing</a:t>
            </a:r>
            <a:endParaRPr lang="en-US" sz="1300" dirty="0"/>
          </a:p>
        </p:txBody>
      </p:sp>
      <p:sp>
        <p:nvSpPr>
          <p:cNvPr id="35" name="Text 28"/>
          <p:cNvSpPr/>
          <p:nvPr/>
        </p:nvSpPr>
        <p:spPr>
          <a:xfrm>
            <a:off x="1234440" y="4297680"/>
            <a:ext cx="7132320" cy="219456"/>
          </a:xfrm>
          <a:prstGeom prst="rect">
            <a:avLst/>
          </a:prstGeom>
          <a:noFill/>
          <a:ln/>
        </p:spPr>
        <p:txBody>
          <a:bodyPr wrap="square" lIns="0" tIns="0" rIns="0" bIns="0" rtlCol="0" anchor="ctr"/>
          <a:lstStyle/>
          <a:p>
            <a:pPr indent="0" marL="0">
              <a:buNone/>
            </a:pPr>
            <a:r>
              <a:rPr lang="en-US" sz="1000" i="1" dirty="0">
                <a:solidFill>
                  <a:srgbClr val="2C5F7A"/>
                </a:solidFill>
                <a:latin typeface="Calibri" pitchFamily="34" charset="0"/>
                <a:ea typeface="Calibri" pitchFamily="34" charset="-122"/>
                <a:cs typeface="Calibri" pitchFamily="34" charset="-120"/>
              </a:rPr>
              <a:t>Multi-turn conversations, intent &amp; slot validation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5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65A82"/>
          </a:solidFill>
          <a:ln/>
        </p:spPr>
      </p:sp>
      <p:sp>
        <p:nvSpPr>
          <p:cNvPr id="3" name="Text 1"/>
          <p:cNvSpPr/>
          <p:nvPr/>
        </p:nvSpPr>
        <p:spPr>
          <a:xfrm>
            <a:off x="411480" y="64008"/>
            <a:ext cx="77724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Is This Framework?</a:t>
            </a:r>
            <a:endParaRPr lang="en-US" sz="2200" dirty="0"/>
          </a:p>
        </p:txBody>
      </p:sp>
      <p:sp>
        <p:nvSpPr>
          <p:cNvPr id="4" name="Text 2"/>
          <p:cNvSpPr/>
          <p:nvPr/>
        </p:nvSpPr>
        <p:spPr>
          <a:xfrm>
            <a:off x="411480" y="530352"/>
            <a:ext cx="8321040" cy="292608"/>
          </a:xfrm>
          <a:prstGeom prst="rect">
            <a:avLst/>
          </a:prstGeom>
          <a:noFill/>
          <a:ln/>
        </p:spPr>
        <p:txBody>
          <a:bodyPr wrap="square" lIns="0" tIns="0" rIns="0" bIns="0" rtlCol="0" anchor="ctr"/>
          <a:lstStyle/>
          <a:p>
            <a:pPr indent="0" marL="0">
              <a:buNone/>
            </a:pPr>
            <a:r>
              <a:rPr lang="en-US" sz="1100" i="1" dirty="0">
                <a:solidFill>
                  <a:srgbClr val="2C5F7A"/>
                </a:solidFill>
                <a:latin typeface="Calibri" pitchFamily="34" charset="0"/>
                <a:ea typeface="Calibri" pitchFamily="34" charset="-122"/>
                <a:cs typeface="Calibri" pitchFamily="34" charset="-120"/>
              </a:rPr>
              <a:t>Automated end-to-end quality assurance for AWS contact centre solutions</a:t>
            </a:r>
            <a:endParaRPr lang="en-US" sz="1100" dirty="0"/>
          </a:p>
        </p:txBody>
      </p:sp>
      <p:sp>
        <p:nvSpPr>
          <p:cNvPr id="5" name="Shape 3"/>
          <p:cNvSpPr/>
          <p:nvPr/>
        </p:nvSpPr>
        <p:spPr>
          <a:xfrm>
            <a:off x="0" y="4892040"/>
            <a:ext cx="9144000" cy="251460"/>
          </a:xfrm>
          <a:prstGeom prst="rect">
            <a:avLst/>
          </a:prstGeom>
          <a:solidFill>
            <a:srgbClr val="065A82"/>
          </a:solidFill>
          <a:ln/>
        </p:spPr>
      </p:sp>
      <p:sp>
        <p:nvSpPr>
          <p:cNvPr id="6" name="Text 4"/>
          <p:cNvSpPr/>
          <p:nvPr/>
        </p:nvSpPr>
        <p:spPr>
          <a:xfrm>
            <a:off x="457200" y="4901184"/>
            <a:ext cx="7315200" cy="228600"/>
          </a:xfrm>
          <a:prstGeom prst="rect">
            <a:avLst/>
          </a:prstGeom>
          <a:noFill/>
          <a:ln/>
        </p:spPr>
        <p:txBody>
          <a:bodyPr wrap="square" lIns="0" tIns="0" rIns="0" bIns="0" rtlCol="0" anchor="ctr"/>
          <a:lstStyle/>
          <a:p>
            <a:pPr indent="0" marL="0">
              <a:buNone/>
            </a:pPr>
            <a:r>
              <a:rPr lang="en-US" sz="800" dirty="0">
                <a:solidFill>
                  <a:srgbClr val="B8D4E8"/>
                </a:solidFill>
                <a:latin typeface="Calibri" pitchFamily="34" charset="0"/>
                <a:ea typeface="Calibri" pitchFamily="34" charset="-122"/>
                <a:cs typeface="Calibri" pitchFamily="34" charset="-120"/>
              </a:rPr>
              <a:t>Amazon Connect Automation Testing Framework  |  Confidential</a:t>
            </a:r>
            <a:endParaRPr lang="en-US" sz="800" dirty="0"/>
          </a:p>
        </p:txBody>
      </p:sp>
      <p:pic>
        <p:nvPicPr>
          <p:cNvPr id="7" name="Image 0" descr="preencoded.png">    </p:cNvPr>
          <p:cNvPicPr>
            <a:picLocks noChangeAspect="1"/>
          </p:cNvPicPr>
          <p:nvPr/>
        </p:nvPicPr>
        <p:blipFill>
          <a:blip r:embed="rId1"/>
          <a:stretch>
            <a:fillRect/>
          </a:stretch>
        </p:blipFill>
        <p:spPr>
          <a:xfrm>
            <a:off x="411480" y="914400"/>
            <a:ext cx="347472" cy="347472"/>
          </a:xfrm>
          <a:prstGeom prst="rect">
            <a:avLst/>
          </a:prstGeom>
        </p:spPr>
      </p:pic>
      <p:sp>
        <p:nvSpPr>
          <p:cNvPr id="8" name="Text 5"/>
          <p:cNvSpPr/>
          <p:nvPr/>
        </p:nvSpPr>
        <p:spPr>
          <a:xfrm>
            <a:off x="868680" y="868680"/>
            <a:ext cx="4160520" cy="292608"/>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Automated Voice Testing</a:t>
            </a:r>
            <a:endParaRPr lang="en-US" sz="1300" dirty="0"/>
          </a:p>
        </p:txBody>
      </p:sp>
      <p:sp>
        <p:nvSpPr>
          <p:cNvPr id="9" name="Text 6"/>
          <p:cNvSpPr/>
          <p:nvPr/>
        </p:nvSpPr>
        <p:spPr>
          <a:xfrm>
            <a:off x="868680" y="1170432"/>
            <a:ext cx="4160520" cy="685800"/>
          </a:xfrm>
          <a:prstGeom prst="rect">
            <a:avLst/>
          </a:prstGeom>
          <a:noFill/>
          <a:ln/>
        </p:spPr>
        <p:txBody>
          <a:bodyPr wrap="square" lIns="0" tIns="0" rIns="0" bIns="0" rtlCol="0" anchor="ctr"/>
          <a:lstStyle/>
          <a:p>
            <a:pPr indent="0" marL="0">
              <a:lnSpc>
                <a:spcPct val="130000"/>
              </a:lnSpc>
              <a:buNone/>
            </a:pPr>
            <a:r>
              <a:rPr lang="en-US" sz="1050" dirty="0">
                <a:solidFill>
                  <a:srgbClr val="2C5F7A"/>
                </a:solidFill>
                <a:latin typeface="Calibri" pitchFamily="34" charset="0"/>
                <a:ea typeface="Calibri" pitchFamily="34" charset="-122"/>
                <a:cs typeface="Calibri" pitchFamily="34" charset="-120"/>
              </a:rPr>
              <a:t>Simulates real PSTN customer calls via AWS Chime SDK SIP Media Application and validates routing outcomes in Amazon Connect.</a:t>
            </a:r>
            <a:endParaRPr lang="en-US" sz="1050" dirty="0"/>
          </a:p>
        </p:txBody>
      </p:sp>
      <p:pic>
        <p:nvPicPr>
          <p:cNvPr id="10" name="Image 1" descr="preencoded.png">    </p:cNvPr>
          <p:cNvPicPr>
            <a:picLocks noChangeAspect="1"/>
          </p:cNvPicPr>
          <p:nvPr/>
        </p:nvPicPr>
        <p:blipFill>
          <a:blip r:embed="rId2"/>
          <a:stretch>
            <a:fillRect/>
          </a:stretch>
        </p:blipFill>
        <p:spPr>
          <a:xfrm>
            <a:off x="411480" y="2148840"/>
            <a:ext cx="347472" cy="347472"/>
          </a:xfrm>
          <a:prstGeom prst="rect">
            <a:avLst/>
          </a:prstGeom>
        </p:spPr>
      </p:pic>
      <p:sp>
        <p:nvSpPr>
          <p:cNvPr id="11" name="Text 7"/>
          <p:cNvSpPr/>
          <p:nvPr/>
        </p:nvSpPr>
        <p:spPr>
          <a:xfrm>
            <a:off x="868680" y="2103120"/>
            <a:ext cx="4160520" cy="292608"/>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Configurable Test Cases</a:t>
            </a:r>
            <a:endParaRPr lang="en-US" sz="1300" dirty="0"/>
          </a:p>
        </p:txBody>
      </p:sp>
      <p:sp>
        <p:nvSpPr>
          <p:cNvPr id="12" name="Text 8"/>
          <p:cNvSpPr/>
          <p:nvPr/>
        </p:nvSpPr>
        <p:spPr>
          <a:xfrm>
            <a:off x="868680" y="2404872"/>
            <a:ext cx="4160520" cy="685800"/>
          </a:xfrm>
          <a:prstGeom prst="rect">
            <a:avLst/>
          </a:prstGeom>
          <a:noFill/>
          <a:ln/>
        </p:spPr>
        <p:txBody>
          <a:bodyPr wrap="square" lIns="0" tIns="0" rIns="0" bIns="0" rtlCol="0" anchor="ctr"/>
          <a:lstStyle/>
          <a:p>
            <a:pPr indent="0" marL="0">
              <a:lnSpc>
                <a:spcPct val="130000"/>
              </a:lnSpc>
              <a:buNone/>
            </a:pPr>
            <a:r>
              <a:rPr lang="en-US" sz="1050" dirty="0">
                <a:solidFill>
                  <a:srgbClr val="2C5F7A"/>
                </a:solidFill>
                <a:latin typeface="Calibri" pitchFamily="34" charset="0"/>
                <a:ea typeface="Calibri" pitchFamily="34" charset="-122"/>
                <a:cs typeface="Calibri" pitchFamily="34" charset="-120"/>
              </a:rPr>
              <a:t>All test scenarios are defined in JSON — no code changes required to add new call flows, DTMF paths, or expected queues.</a:t>
            </a:r>
            <a:endParaRPr lang="en-US" sz="1050" dirty="0"/>
          </a:p>
        </p:txBody>
      </p:sp>
      <p:pic>
        <p:nvPicPr>
          <p:cNvPr id="13" name="Image 2" descr="preencoded.png">    </p:cNvPr>
          <p:cNvPicPr>
            <a:picLocks noChangeAspect="1"/>
          </p:cNvPicPr>
          <p:nvPr/>
        </p:nvPicPr>
        <p:blipFill>
          <a:blip r:embed="rId3"/>
          <a:stretch>
            <a:fillRect/>
          </a:stretch>
        </p:blipFill>
        <p:spPr>
          <a:xfrm>
            <a:off x="411480" y="3383280"/>
            <a:ext cx="347472" cy="347472"/>
          </a:xfrm>
          <a:prstGeom prst="rect">
            <a:avLst/>
          </a:prstGeom>
        </p:spPr>
      </p:pic>
      <p:sp>
        <p:nvSpPr>
          <p:cNvPr id="14" name="Text 9"/>
          <p:cNvSpPr/>
          <p:nvPr/>
        </p:nvSpPr>
        <p:spPr>
          <a:xfrm>
            <a:off x="868680" y="3337560"/>
            <a:ext cx="4160520" cy="292608"/>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Deep Flow Validation</a:t>
            </a:r>
            <a:endParaRPr lang="en-US" sz="1300" dirty="0"/>
          </a:p>
        </p:txBody>
      </p:sp>
      <p:sp>
        <p:nvSpPr>
          <p:cNvPr id="15" name="Text 10"/>
          <p:cNvSpPr/>
          <p:nvPr/>
        </p:nvSpPr>
        <p:spPr>
          <a:xfrm>
            <a:off x="868680" y="3639312"/>
            <a:ext cx="4160520" cy="685800"/>
          </a:xfrm>
          <a:prstGeom prst="rect">
            <a:avLst/>
          </a:prstGeom>
          <a:noFill/>
          <a:ln/>
        </p:spPr>
        <p:txBody>
          <a:bodyPr wrap="square" lIns="0" tIns="0" rIns="0" bIns="0" rtlCol="0" anchor="ctr"/>
          <a:lstStyle/>
          <a:p>
            <a:pPr indent="0" marL="0">
              <a:lnSpc>
                <a:spcPct val="130000"/>
              </a:lnSpc>
              <a:buNone/>
            </a:pPr>
            <a:r>
              <a:rPr lang="en-US" sz="1050" dirty="0">
                <a:solidFill>
                  <a:srgbClr val="2C5F7A"/>
                </a:solidFill>
                <a:latin typeface="Calibri" pitchFamily="34" charset="0"/>
                <a:ea typeface="Calibri" pitchFamily="34" charset="-122"/>
                <a:cs typeface="Calibri" pitchFamily="34" charset="-120"/>
              </a:rPr>
              <a:t>Verifies contact attributes, CTR records, CloudWatch logs, and DynamoDB state — not just whether the call connected.</a:t>
            </a:r>
            <a:endParaRPr lang="en-US" sz="1050" dirty="0"/>
          </a:p>
        </p:txBody>
      </p:sp>
      <p:sp>
        <p:nvSpPr>
          <p:cNvPr id="16" name="Shape 11"/>
          <p:cNvSpPr/>
          <p:nvPr/>
        </p:nvSpPr>
        <p:spPr>
          <a:xfrm>
            <a:off x="5303520" y="896112"/>
            <a:ext cx="3429000" cy="100584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17" name="Text 12"/>
          <p:cNvSpPr/>
          <p:nvPr/>
        </p:nvSpPr>
        <p:spPr>
          <a:xfrm>
            <a:off x="5303520" y="941832"/>
            <a:ext cx="3429000" cy="54864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3</a:t>
            </a:r>
            <a:endParaRPr lang="en-US" sz="4200" dirty="0"/>
          </a:p>
        </p:txBody>
      </p:sp>
      <p:sp>
        <p:nvSpPr>
          <p:cNvPr id="18" name="Text 13"/>
          <p:cNvSpPr/>
          <p:nvPr/>
        </p:nvSpPr>
        <p:spPr>
          <a:xfrm>
            <a:off x="5303520" y="1463040"/>
            <a:ext cx="342900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Testing Modules</a:t>
            </a:r>
            <a:endParaRPr lang="en-US" sz="1100" dirty="0"/>
          </a:p>
        </p:txBody>
      </p:sp>
      <p:sp>
        <p:nvSpPr>
          <p:cNvPr id="19" name="Text 14"/>
          <p:cNvSpPr/>
          <p:nvPr/>
        </p:nvSpPr>
        <p:spPr>
          <a:xfrm>
            <a:off x="5303520" y="1673352"/>
            <a:ext cx="3429000" cy="182880"/>
          </a:xfrm>
          <a:prstGeom prst="rect">
            <a:avLst/>
          </a:prstGeom>
          <a:noFill/>
          <a:ln/>
        </p:spPr>
        <p:txBody>
          <a:bodyPr wrap="square" lIns="0" tIns="0" rIns="0" bIns="0" rtlCol="0" anchor="ctr"/>
          <a:lstStyle/>
          <a:p>
            <a:pPr algn="ctr" indent="0" marL="0">
              <a:buNone/>
            </a:pPr>
            <a:r>
              <a:rPr lang="en-US" sz="850" i="1" dirty="0">
                <a:solidFill>
                  <a:srgbClr val="B8D4E8"/>
                </a:solidFill>
                <a:latin typeface="Calibri" pitchFamily="34" charset="0"/>
                <a:ea typeface="Calibri" pitchFamily="34" charset="-122"/>
                <a:cs typeface="Calibri" pitchFamily="34" charset="-120"/>
              </a:rPr>
              <a:t>Voice · Lambda · Lex</a:t>
            </a:r>
            <a:endParaRPr lang="en-US" sz="850" dirty="0"/>
          </a:p>
        </p:txBody>
      </p:sp>
      <p:sp>
        <p:nvSpPr>
          <p:cNvPr id="20" name="Shape 15"/>
          <p:cNvSpPr/>
          <p:nvPr/>
        </p:nvSpPr>
        <p:spPr>
          <a:xfrm>
            <a:off x="5303520" y="2130552"/>
            <a:ext cx="3429000" cy="1005840"/>
          </a:xfrm>
          <a:prstGeom prst="rect">
            <a:avLst/>
          </a:prstGeom>
          <a:solidFill>
            <a:srgbClr val="1C7293"/>
          </a:solidFill>
          <a:ln/>
          <a:effectLst>
            <a:outerShdw sx="100000" sy="100000" kx="0" ky="0" algn="bl" rotWithShape="0" blurRad="101600" dist="38100" dir="8100000">
              <a:srgbClr val="000000">
                <a:alpha val="12000"/>
              </a:srgbClr>
            </a:outerShdw>
          </a:effectLst>
        </p:spPr>
      </p:sp>
      <p:sp>
        <p:nvSpPr>
          <p:cNvPr id="21" name="Text 16"/>
          <p:cNvSpPr/>
          <p:nvPr/>
        </p:nvSpPr>
        <p:spPr>
          <a:xfrm>
            <a:off x="5303520" y="2176272"/>
            <a:ext cx="3429000" cy="54864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15+</a:t>
            </a:r>
            <a:endParaRPr lang="en-US" sz="4200" dirty="0"/>
          </a:p>
        </p:txBody>
      </p:sp>
      <p:sp>
        <p:nvSpPr>
          <p:cNvPr id="22" name="Text 17"/>
          <p:cNvSpPr/>
          <p:nvPr/>
        </p:nvSpPr>
        <p:spPr>
          <a:xfrm>
            <a:off x="5303520" y="2697480"/>
            <a:ext cx="342900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Voice Test Cases</a:t>
            </a:r>
            <a:endParaRPr lang="en-US" sz="1100" dirty="0"/>
          </a:p>
        </p:txBody>
      </p:sp>
      <p:sp>
        <p:nvSpPr>
          <p:cNvPr id="23" name="Text 18"/>
          <p:cNvSpPr/>
          <p:nvPr/>
        </p:nvSpPr>
        <p:spPr>
          <a:xfrm>
            <a:off x="5303520" y="2907792"/>
            <a:ext cx="3429000" cy="182880"/>
          </a:xfrm>
          <a:prstGeom prst="rect">
            <a:avLst/>
          </a:prstGeom>
          <a:noFill/>
          <a:ln/>
        </p:spPr>
        <p:txBody>
          <a:bodyPr wrap="square" lIns="0" tIns="0" rIns="0" bIns="0" rtlCol="0" anchor="ctr"/>
          <a:lstStyle/>
          <a:p>
            <a:pPr algn="ctr" indent="0" marL="0">
              <a:buNone/>
            </a:pPr>
            <a:r>
              <a:rPr lang="en-US" sz="850" i="1" dirty="0">
                <a:solidFill>
                  <a:srgbClr val="B8D4E8"/>
                </a:solidFill>
                <a:latin typeface="Calibri" pitchFamily="34" charset="0"/>
                <a:ea typeface="Calibri" pitchFamily="34" charset="-122"/>
                <a:cs typeface="Calibri" pitchFamily="34" charset="-120"/>
              </a:rPr>
              <a:t>DTMF, multi-turn, error paths</a:t>
            </a:r>
            <a:endParaRPr lang="en-US" sz="850" dirty="0"/>
          </a:p>
        </p:txBody>
      </p:sp>
      <p:sp>
        <p:nvSpPr>
          <p:cNvPr id="24" name="Shape 19"/>
          <p:cNvSpPr/>
          <p:nvPr/>
        </p:nvSpPr>
        <p:spPr>
          <a:xfrm>
            <a:off x="5303520" y="3364992"/>
            <a:ext cx="3429000" cy="1005840"/>
          </a:xfrm>
          <a:prstGeom prst="rect">
            <a:avLst/>
          </a:prstGeom>
          <a:solidFill>
            <a:srgbClr val="02C39A"/>
          </a:solidFill>
          <a:ln/>
          <a:effectLst>
            <a:outerShdw sx="100000" sy="100000" kx="0" ky="0" algn="bl" rotWithShape="0" blurRad="101600" dist="38100" dir="8100000">
              <a:srgbClr val="000000">
                <a:alpha val="12000"/>
              </a:srgbClr>
            </a:outerShdw>
          </a:effectLst>
        </p:spPr>
      </p:sp>
      <p:sp>
        <p:nvSpPr>
          <p:cNvPr id="25" name="Text 20"/>
          <p:cNvSpPr/>
          <p:nvPr/>
        </p:nvSpPr>
        <p:spPr>
          <a:xfrm>
            <a:off x="5303520" y="3410712"/>
            <a:ext cx="3429000" cy="54864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100%</a:t>
            </a:r>
            <a:endParaRPr lang="en-US" sz="4200" dirty="0"/>
          </a:p>
        </p:txBody>
      </p:sp>
      <p:sp>
        <p:nvSpPr>
          <p:cNvPr id="26" name="Text 21"/>
          <p:cNvSpPr/>
          <p:nvPr/>
        </p:nvSpPr>
        <p:spPr>
          <a:xfrm>
            <a:off x="5303520" y="3931920"/>
            <a:ext cx="342900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Local Execution</a:t>
            </a:r>
            <a:endParaRPr lang="en-US" sz="1100" dirty="0"/>
          </a:p>
        </p:txBody>
      </p:sp>
      <p:sp>
        <p:nvSpPr>
          <p:cNvPr id="27" name="Text 22"/>
          <p:cNvSpPr/>
          <p:nvPr/>
        </p:nvSpPr>
        <p:spPr>
          <a:xfrm>
            <a:off x="5303520" y="4142232"/>
            <a:ext cx="3429000" cy="182880"/>
          </a:xfrm>
          <a:prstGeom prst="rect">
            <a:avLst/>
          </a:prstGeom>
          <a:noFill/>
          <a:ln/>
        </p:spPr>
        <p:txBody>
          <a:bodyPr wrap="square" lIns="0" tIns="0" rIns="0" bIns="0" rtlCol="0" anchor="ctr"/>
          <a:lstStyle/>
          <a:p>
            <a:pPr algn="ctr" indent="0" marL="0">
              <a:buNone/>
            </a:pPr>
            <a:r>
              <a:rPr lang="en-US" sz="850" i="1" dirty="0">
                <a:solidFill>
                  <a:srgbClr val="B8D4E8"/>
                </a:solidFill>
                <a:latin typeface="Calibri" pitchFamily="34" charset="0"/>
                <a:ea typeface="Calibri" pitchFamily="34" charset="-122"/>
                <a:cs typeface="Calibri" pitchFamily="34" charset="-120"/>
              </a:rPr>
              <a:t>MOCK_AWS mode — no cloud costs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C39A"/>
          </a:solidFill>
          <a:ln/>
        </p:spPr>
      </p:sp>
      <p:sp>
        <p:nvSpPr>
          <p:cNvPr id="3" name="Text 1"/>
          <p:cNvSpPr/>
          <p:nvPr/>
        </p:nvSpPr>
        <p:spPr>
          <a:xfrm>
            <a:off x="411480" y="73152"/>
            <a:ext cx="8229600" cy="365760"/>
          </a:xfrm>
          <a:prstGeom prst="rect">
            <a:avLst/>
          </a:prstGeom>
          <a:noFill/>
          <a:ln/>
        </p:spPr>
        <p:txBody>
          <a:bodyPr wrap="square" lIns="0" tIns="0" rIns="0" bIns="0" rtlCol="0" anchor="ctr"/>
          <a:lstStyle/>
          <a:p>
            <a:pPr indent="0" marL="0">
              <a:buNone/>
            </a:pPr>
            <a:r>
              <a:rPr lang="en-US" sz="2200" b="1" dirty="0">
                <a:solidFill>
                  <a:srgbClr val="021526"/>
                </a:solidFill>
                <a:latin typeface="Calibri" pitchFamily="34" charset="0"/>
                <a:ea typeface="Calibri" pitchFamily="34" charset="-122"/>
                <a:cs typeface="Calibri" pitchFamily="34" charset="-120"/>
              </a:rPr>
              <a:t>Architecture: How The Framework Works</a:t>
            </a:r>
            <a:endParaRPr lang="en-US" sz="2200" dirty="0"/>
          </a:p>
        </p:txBody>
      </p:sp>
      <p:sp>
        <p:nvSpPr>
          <p:cNvPr id="4" name="Shape 2"/>
          <p:cNvSpPr/>
          <p:nvPr/>
        </p:nvSpPr>
        <p:spPr>
          <a:xfrm>
            <a:off x="0" y="4892040"/>
            <a:ext cx="9144000" cy="251460"/>
          </a:xfrm>
          <a:prstGeom prst="rect">
            <a:avLst/>
          </a:prstGeom>
          <a:solidFill>
            <a:srgbClr val="1C7293"/>
          </a:solidFill>
          <a:ln/>
        </p:spPr>
      </p:sp>
      <p:sp>
        <p:nvSpPr>
          <p:cNvPr id="5" name="Text 3"/>
          <p:cNvSpPr/>
          <p:nvPr/>
        </p:nvSpPr>
        <p:spPr>
          <a:xfrm>
            <a:off x="457200" y="4901184"/>
            <a:ext cx="7315200" cy="228600"/>
          </a:xfrm>
          <a:prstGeom prst="rect">
            <a:avLst/>
          </a:prstGeom>
          <a:noFill/>
          <a:ln/>
        </p:spPr>
        <p:txBody>
          <a:bodyPr wrap="square" lIns="0" tIns="0" rIns="0" bIns="0" rtlCol="0" anchor="ctr"/>
          <a:lstStyle/>
          <a:p>
            <a:pPr indent="0" marL="0">
              <a:buNone/>
            </a:pPr>
            <a:r>
              <a:rPr lang="en-US" sz="800" dirty="0">
                <a:solidFill>
                  <a:srgbClr val="B8D4E8"/>
                </a:solidFill>
                <a:latin typeface="Calibri" pitchFamily="34" charset="0"/>
                <a:ea typeface="Calibri" pitchFamily="34" charset="-122"/>
                <a:cs typeface="Calibri" pitchFamily="34" charset="-120"/>
              </a:rPr>
              <a:t>Amazon Connect Automation Testing Framework  |  Confidential</a:t>
            </a:r>
            <a:endParaRPr lang="en-US" sz="800" dirty="0"/>
          </a:p>
        </p:txBody>
      </p:sp>
      <p:sp>
        <p:nvSpPr>
          <p:cNvPr id="6" name="Shape 4"/>
          <p:cNvSpPr/>
          <p:nvPr/>
        </p:nvSpPr>
        <p:spPr>
          <a:xfrm>
            <a:off x="274320" y="713232"/>
            <a:ext cx="1536192" cy="1719072"/>
          </a:xfrm>
          <a:prstGeom prst="rect">
            <a:avLst/>
          </a:prstGeom>
          <a:solidFill>
            <a:srgbClr val="0D2137"/>
          </a:solidFill>
          <a:ln/>
          <a:effectLst>
            <a:outerShdw sx="100000" sy="100000" kx="0" ky="0" algn="bl" rotWithShape="0" blurRad="101600" dist="38100" dir="8100000">
              <a:srgbClr val="000000">
                <a:alpha val="12000"/>
              </a:srgbClr>
            </a:outerShdw>
          </a:effectLst>
        </p:spPr>
      </p:sp>
      <p:sp>
        <p:nvSpPr>
          <p:cNvPr id="7" name="Shape 5"/>
          <p:cNvSpPr/>
          <p:nvPr/>
        </p:nvSpPr>
        <p:spPr>
          <a:xfrm>
            <a:off x="274320" y="713232"/>
            <a:ext cx="1536192" cy="384048"/>
          </a:xfrm>
          <a:prstGeom prst="rect">
            <a:avLst/>
          </a:prstGeom>
          <a:solidFill>
            <a:srgbClr val="02C39A"/>
          </a:solidFill>
          <a:ln/>
        </p:spPr>
      </p:sp>
      <p:sp>
        <p:nvSpPr>
          <p:cNvPr id="8" name="Text 6"/>
          <p:cNvSpPr/>
          <p:nvPr/>
        </p:nvSpPr>
        <p:spPr>
          <a:xfrm>
            <a:off x="274320" y="713232"/>
            <a:ext cx="1536192" cy="384048"/>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365760" y="117043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 Runner</a:t>
            </a:r>
            <a:endParaRPr lang="en-US" sz="1100" dirty="0"/>
          </a:p>
        </p:txBody>
      </p:sp>
      <p:sp>
        <p:nvSpPr>
          <p:cNvPr id="10" name="Text 8"/>
          <p:cNvSpPr/>
          <p:nvPr/>
        </p:nvSpPr>
        <p:spPr>
          <a:xfrm>
            <a:off x="365760" y="1536192"/>
            <a:ext cx="1353312" cy="676656"/>
          </a:xfrm>
          <a:prstGeom prst="rect">
            <a:avLst/>
          </a:prstGeom>
          <a:noFill/>
          <a:ln/>
        </p:spPr>
        <p:txBody>
          <a:bodyPr wrap="square" lIns="0" tIns="0" rIns="0" bIns="0" rtlCol="0" anchor="ctr"/>
          <a:lstStyle/>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pytest +</a:t>
            </a:r>
            <a:endParaRPr lang="en-US" sz="900" dirty="0"/>
          </a:p>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JSON test cases</a:t>
            </a:r>
            <a:endParaRPr lang="en-US" sz="900" dirty="0"/>
          </a:p>
        </p:txBody>
      </p:sp>
      <p:sp>
        <p:nvSpPr>
          <p:cNvPr id="11" name="Shape 9"/>
          <p:cNvSpPr/>
          <p:nvPr/>
        </p:nvSpPr>
        <p:spPr>
          <a:xfrm>
            <a:off x="1828800" y="1463040"/>
            <a:ext cx="128016" cy="73152"/>
          </a:xfrm>
          <a:prstGeom prst="rect">
            <a:avLst/>
          </a:prstGeom>
          <a:solidFill>
            <a:srgbClr val="B8D4E8"/>
          </a:solidFill>
          <a:ln/>
        </p:spPr>
      </p:sp>
      <p:sp>
        <p:nvSpPr>
          <p:cNvPr id="12" name="Text 10"/>
          <p:cNvSpPr/>
          <p:nvPr/>
        </p:nvSpPr>
        <p:spPr>
          <a:xfrm>
            <a:off x="1810512" y="1353312"/>
            <a:ext cx="182880" cy="310896"/>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1993392" y="713232"/>
            <a:ext cx="1536192" cy="1719072"/>
          </a:xfrm>
          <a:prstGeom prst="rect">
            <a:avLst/>
          </a:prstGeom>
          <a:solidFill>
            <a:srgbClr val="0D2137"/>
          </a:solidFill>
          <a:ln/>
          <a:effectLst>
            <a:outerShdw sx="100000" sy="100000" kx="0" ky="0" algn="bl" rotWithShape="0" blurRad="101600" dist="38100" dir="8100000">
              <a:srgbClr val="000000">
                <a:alpha val="12000"/>
              </a:srgbClr>
            </a:outerShdw>
          </a:effectLst>
        </p:spPr>
      </p:sp>
      <p:sp>
        <p:nvSpPr>
          <p:cNvPr id="14" name="Shape 12"/>
          <p:cNvSpPr/>
          <p:nvPr/>
        </p:nvSpPr>
        <p:spPr>
          <a:xfrm>
            <a:off x="1993392" y="713232"/>
            <a:ext cx="1536192" cy="384048"/>
          </a:xfrm>
          <a:prstGeom prst="rect">
            <a:avLst/>
          </a:prstGeom>
          <a:solidFill>
            <a:srgbClr val="065A82"/>
          </a:solidFill>
          <a:ln/>
        </p:spPr>
      </p:sp>
      <p:sp>
        <p:nvSpPr>
          <p:cNvPr id="15" name="Text 13"/>
          <p:cNvSpPr/>
          <p:nvPr/>
        </p:nvSpPr>
        <p:spPr>
          <a:xfrm>
            <a:off x="1993392" y="713232"/>
            <a:ext cx="1536192" cy="384048"/>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02</a:t>
            </a:r>
            <a:endParaRPr lang="en-US" sz="1600" dirty="0"/>
          </a:p>
        </p:txBody>
      </p:sp>
      <p:sp>
        <p:nvSpPr>
          <p:cNvPr id="16" name="Text 14"/>
          <p:cNvSpPr/>
          <p:nvPr/>
        </p:nvSpPr>
        <p:spPr>
          <a:xfrm>
            <a:off x="2084832" y="117043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Chime SDK</a:t>
            </a:r>
            <a:endParaRPr lang="en-US" sz="1100" dirty="0"/>
          </a:p>
        </p:txBody>
      </p:sp>
      <p:sp>
        <p:nvSpPr>
          <p:cNvPr id="17" name="Text 15"/>
          <p:cNvSpPr/>
          <p:nvPr/>
        </p:nvSpPr>
        <p:spPr>
          <a:xfrm>
            <a:off x="2084832" y="1536192"/>
            <a:ext cx="1353312" cy="676656"/>
          </a:xfrm>
          <a:prstGeom prst="rect">
            <a:avLst/>
          </a:prstGeom>
          <a:noFill/>
          <a:ln/>
        </p:spPr>
        <p:txBody>
          <a:bodyPr wrap="square" lIns="0" tIns="0" rIns="0" bIns="0" rtlCol="0" anchor="ctr"/>
          <a:lstStyle/>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SIP Media Application</a:t>
            </a:r>
            <a:endParaRPr lang="en-US" sz="900" dirty="0"/>
          </a:p>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(outbound call)</a:t>
            </a:r>
            <a:endParaRPr lang="en-US" sz="900" dirty="0"/>
          </a:p>
        </p:txBody>
      </p:sp>
      <p:sp>
        <p:nvSpPr>
          <p:cNvPr id="18" name="Shape 16"/>
          <p:cNvSpPr/>
          <p:nvPr/>
        </p:nvSpPr>
        <p:spPr>
          <a:xfrm>
            <a:off x="3547872" y="1463040"/>
            <a:ext cx="128016" cy="73152"/>
          </a:xfrm>
          <a:prstGeom prst="rect">
            <a:avLst/>
          </a:prstGeom>
          <a:solidFill>
            <a:srgbClr val="B8D4E8"/>
          </a:solidFill>
          <a:ln/>
        </p:spPr>
      </p:sp>
      <p:sp>
        <p:nvSpPr>
          <p:cNvPr id="19" name="Text 17"/>
          <p:cNvSpPr/>
          <p:nvPr/>
        </p:nvSpPr>
        <p:spPr>
          <a:xfrm>
            <a:off x="3529584" y="1353312"/>
            <a:ext cx="182880" cy="310896"/>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3712464" y="713232"/>
            <a:ext cx="1536192" cy="1719072"/>
          </a:xfrm>
          <a:prstGeom prst="rect">
            <a:avLst/>
          </a:prstGeom>
          <a:solidFill>
            <a:srgbClr val="0D2137"/>
          </a:solidFill>
          <a:ln/>
          <a:effectLst>
            <a:outerShdw sx="100000" sy="100000" kx="0" ky="0" algn="bl" rotWithShape="0" blurRad="101600" dist="38100" dir="8100000">
              <a:srgbClr val="000000">
                <a:alpha val="12000"/>
              </a:srgbClr>
            </a:outerShdw>
          </a:effectLst>
        </p:spPr>
      </p:sp>
      <p:sp>
        <p:nvSpPr>
          <p:cNvPr id="21" name="Shape 19"/>
          <p:cNvSpPr/>
          <p:nvPr/>
        </p:nvSpPr>
        <p:spPr>
          <a:xfrm>
            <a:off x="3712464" y="713232"/>
            <a:ext cx="1536192" cy="384048"/>
          </a:xfrm>
          <a:prstGeom prst="rect">
            <a:avLst/>
          </a:prstGeom>
          <a:solidFill>
            <a:srgbClr val="1C7293"/>
          </a:solidFill>
          <a:ln/>
        </p:spPr>
      </p:sp>
      <p:sp>
        <p:nvSpPr>
          <p:cNvPr id="22" name="Text 20"/>
          <p:cNvSpPr/>
          <p:nvPr/>
        </p:nvSpPr>
        <p:spPr>
          <a:xfrm>
            <a:off x="3712464" y="713232"/>
            <a:ext cx="1536192" cy="384048"/>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3803904" y="117043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PSTN / Connect</a:t>
            </a:r>
            <a:endParaRPr lang="en-US" sz="1100" dirty="0"/>
          </a:p>
        </p:txBody>
      </p:sp>
      <p:sp>
        <p:nvSpPr>
          <p:cNvPr id="24" name="Text 22"/>
          <p:cNvSpPr/>
          <p:nvPr/>
        </p:nvSpPr>
        <p:spPr>
          <a:xfrm>
            <a:off x="3803904" y="1536192"/>
            <a:ext cx="1353312" cy="676656"/>
          </a:xfrm>
          <a:prstGeom prst="rect">
            <a:avLst/>
          </a:prstGeom>
          <a:noFill/>
          <a:ln/>
        </p:spPr>
        <p:txBody>
          <a:bodyPr wrap="square" lIns="0" tIns="0" rIns="0" bIns="0" rtlCol="0" anchor="ctr"/>
          <a:lstStyle/>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Amazon Connect</a:t>
            </a:r>
            <a:endParaRPr lang="en-US" sz="900" dirty="0"/>
          </a:p>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phone number</a:t>
            </a:r>
            <a:endParaRPr lang="en-US" sz="900" dirty="0"/>
          </a:p>
        </p:txBody>
      </p:sp>
      <p:sp>
        <p:nvSpPr>
          <p:cNvPr id="25" name="Shape 23"/>
          <p:cNvSpPr/>
          <p:nvPr/>
        </p:nvSpPr>
        <p:spPr>
          <a:xfrm>
            <a:off x="5266944" y="1463040"/>
            <a:ext cx="128016" cy="73152"/>
          </a:xfrm>
          <a:prstGeom prst="rect">
            <a:avLst/>
          </a:prstGeom>
          <a:solidFill>
            <a:srgbClr val="B8D4E8"/>
          </a:solidFill>
          <a:ln/>
        </p:spPr>
      </p:sp>
      <p:sp>
        <p:nvSpPr>
          <p:cNvPr id="26" name="Text 24"/>
          <p:cNvSpPr/>
          <p:nvPr/>
        </p:nvSpPr>
        <p:spPr>
          <a:xfrm>
            <a:off x="5248656" y="1353312"/>
            <a:ext cx="182880" cy="310896"/>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27" name="Shape 25"/>
          <p:cNvSpPr/>
          <p:nvPr/>
        </p:nvSpPr>
        <p:spPr>
          <a:xfrm>
            <a:off x="5431536" y="713232"/>
            <a:ext cx="1536192" cy="1719072"/>
          </a:xfrm>
          <a:prstGeom prst="rect">
            <a:avLst/>
          </a:prstGeom>
          <a:solidFill>
            <a:srgbClr val="0D2137"/>
          </a:solidFill>
          <a:ln/>
          <a:effectLst>
            <a:outerShdw sx="100000" sy="100000" kx="0" ky="0" algn="bl" rotWithShape="0" blurRad="101600" dist="38100" dir="8100000">
              <a:srgbClr val="000000">
                <a:alpha val="12000"/>
              </a:srgbClr>
            </a:outerShdw>
          </a:effectLst>
        </p:spPr>
      </p:sp>
      <p:sp>
        <p:nvSpPr>
          <p:cNvPr id="28" name="Shape 26"/>
          <p:cNvSpPr/>
          <p:nvPr/>
        </p:nvSpPr>
        <p:spPr>
          <a:xfrm>
            <a:off x="5431536" y="713232"/>
            <a:ext cx="1536192" cy="384048"/>
          </a:xfrm>
          <a:prstGeom prst="rect">
            <a:avLst/>
          </a:prstGeom>
          <a:solidFill>
            <a:srgbClr val="065A82"/>
          </a:solidFill>
          <a:ln/>
        </p:spPr>
      </p:sp>
      <p:sp>
        <p:nvSpPr>
          <p:cNvPr id="29" name="Text 27"/>
          <p:cNvSpPr/>
          <p:nvPr/>
        </p:nvSpPr>
        <p:spPr>
          <a:xfrm>
            <a:off x="5431536" y="713232"/>
            <a:ext cx="1536192" cy="384048"/>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04</a:t>
            </a:r>
            <a:endParaRPr lang="en-US" sz="1600" dirty="0"/>
          </a:p>
        </p:txBody>
      </p:sp>
      <p:sp>
        <p:nvSpPr>
          <p:cNvPr id="30" name="Text 28"/>
          <p:cNvSpPr/>
          <p:nvPr/>
        </p:nvSpPr>
        <p:spPr>
          <a:xfrm>
            <a:off x="5522976" y="117043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Contact Flow</a:t>
            </a:r>
            <a:endParaRPr lang="en-US" sz="1100" dirty="0"/>
          </a:p>
        </p:txBody>
      </p:sp>
      <p:sp>
        <p:nvSpPr>
          <p:cNvPr id="31" name="Text 29"/>
          <p:cNvSpPr/>
          <p:nvPr/>
        </p:nvSpPr>
        <p:spPr>
          <a:xfrm>
            <a:off x="5522976" y="1536192"/>
            <a:ext cx="1353312" cy="676656"/>
          </a:xfrm>
          <a:prstGeom prst="rect">
            <a:avLst/>
          </a:prstGeom>
          <a:noFill/>
          <a:ln/>
        </p:spPr>
        <p:txBody>
          <a:bodyPr wrap="square" lIns="0" tIns="0" rIns="0" bIns="0" rtlCol="0" anchor="ctr"/>
          <a:lstStyle/>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DTMF routing,</a:t>
            </a:r>
            <a:endParaRPr lang="en-US" sz="900" dirty="0"/>
          </a:p>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Lambda dips</a:t>
            </a:r>
            <a:endParaRPr lang="en-US" sz="900" dirty="0"/>
          </a:p>
        </p:txBody>
      </p:sp>
      <p:sp>
        <p:nvSpPr>
          <p:cNvPr id="32" name="Shape 30"/>
          <p:cNvSpPr/>
          <p:nvPr/>
        </p:nvSpPr>
        <p:spPr>
          <a:xfrm>
            <a:off x="6986016" y="1463040"/>
            <a:ext cx="128016" cy="73152"/>
          </a:xfrm>
          <a:prstGeom prst="rect">
            <a:avLst/>
          </a:prstGeom>
          <a:solidFill>
            <a:srgbClr val="B8D4E8"/>
          </a:solidFill>
          <a:ln/>
        </p:spPr>
      </p:sp>
      <p:sp>
        <p:nvSpPr>
          <p:cNvPr id="33" name="Text 31"/>
          <p:cNvSpPr/>
          <p:nvPr/>
        </p:nvSpPr>
        <p:spPr>
          <a:xfrm>
            <a:off x="6967728" y="1353312"/>
            <a:ext cx="182880" cy="310896"/>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34" name="Shape 32"/>
          <p:cNvSpPr/>
          <p:nvPr/>
        </p:nvSpPr>
        <p:spPr>
          <a:xfrm>
            <a:off x="7150608" y="713232"/>
            <a:ext cx="1536192" cy="1719072"/>
          </a:xfrm>
          <a:prstGeom prst="rect">
            <a:avLst/>
          </a:prstGeom>
          <a:solidFill>
            <a:srgbClr val="0D2137"/>
          </a:solidFill>
          <a:ln/>
          <a:effectLst>
            <a:outerShdw sx="100000" sy="100000" kx="0" ky="0" algn="bl" rotWithShape="0" blurRad="101600" dist="38100" dir="8100000">
              <a:srgbClr val="000000">
                <a:alpha val="12000"/>
              </a:srgbClr>
            </a:outerShdw>
          </a:effectLst>
        </p:spPr>
      </p:sp>
      <p:sp>
        <p:nvSpPr>
          <p:cNvPr id="35" name="Shape 33"/>
          <p:cNvSpPr/>
          <p:nvPr/>
        </p:nvSpPr>
        <p:spPr>
          <a:xfrm>
            <a:off x="7150608" y="713232"/>
            <a:ext cx="1536192" cy="384048"/>
          </a:xfrm>
          <a:prstGeom prst="rect">
            <a:avLst/>
          </a:prstGeom>
          <a:solidFill>
            <a:srgbClr val="02C39A"/>
          </a:solidFill>
          <a:ln/>
        </p:spPr>
      </p:sp>
      <p:sp>
        <p:nvSpPr>
          <p:cNvPr id="36" name="Text 34"/>
          <p:cNvSpPr/>
          <p:nvPr/>
        </p:nvSpPr>
        <p:spPr>
          <a:xfrm>
            <a:off x="7150608" y="713232"/>
            <a:ext cx="1536192" cy="384048"/>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05</a:t>
            </a:r>
            <a:endParaRPr lang="en-US" sz="1600" dirty="0"/>
          </a:p>
        </p:txBody>
      </p:sp>
      <p:sp>
        <p:nvSpPr>
          <p:cNvPr id="37" name="Text 35"/>
          <p:cNvSpPr/>
          <p:nvPr/>
        </p:nvSpPr>
        <p:spPr>
          <a:xfrm>
            <a:off x="7242048" y="117043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Validation</a:t>
            </a:r>
            <a:endParaRPr lang="en-US" sz="1100" dirty="0"/>
          </a:p>
        </p:txBody>
      </p:sp>
      <p:sp>
        <p:nvSpPr>
          <p:cNvPr id="38" name="Text 36"/>
          <p:cNvSpPr/>
          <p:nvPr/>
        </p:nvSpPr>
        <p:spPr>
          <a:xfrm>
            <a:off x="7242048" y="1536192"/>
            <a:ext cx="1353312" cy="676656"/>
          </a:xfrm>
          <a:prstGeom prst="rect">
            <a:avLst/>
          </a:prstGeom>
          <a:noFill/>
          <a:ln/>
        </p:spPr>
        <p:txBody>
          <a:bodyPr wrap="square" lIns="0" tIns="0" rIns="0" bIns="0" rtlCol="0" anchor="ctr"/>
          <a:lstStyle/>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CTR · CloudWatch</a:t>
            </a:r>
            <a:endParaRPr lang="en-US" sz="900" dirty="0"/>
          </a:p>
          <a:p>
            <a:pPr algn="ctr" indent="0" marL="0">
              <a:lnSpc>
                <a:spcPct val="130000"/>
              </a:lnSpc>
              <a:buNone/>
            </a:pPr>
            <a:r>
              <a:rPr lang="en-US" sz="900" dirty="0">
                <a:solidFill>
                  <a:srgbClr val="B8D4E8"/>
                </a:solidFill>
                <a:latin typeface="Calibri" pitchFamily="34" charset="0"/>
                <a:ea typeface="Calibri" pitchFamily="34" charset="-122"/>
                <a:cs typeface="Calibri" pitchFamily="34" charset="-120"/>
              </a:rPr>
              <a:t>DynamoDB</a:t>
            </a:r>
            <a:endParaRPr lang="en-US" sz="900" dirty="0"/>
          </a:p>
        </p:txBody>
      </p:sp>
      <p:sp>
        <p:nvSpPr>
          <p:cNvPr id="39" name="Shape 37"/>
          <p:cNvSpPr/>
          <p:nvPr/>
        </p:nvSpPr>
        <p:spPr>
          <a:xfrm>
            <a:off x="274320" y="2606040"/>
            <a:ext cx="2743200" cy="2029968"/>
          </a:xfrm>
          <a:prstGeom prst="rect">
            <a:avLst/>
          </a:prstGeom>
          <a:solidFill>
            <a:srgbClr val="0D2137"/>
          </a:solidFill>
          <a:ln/>
          <a:effectLst>
            <a:outerShdw sx="100000" sy="100000" kx="0" ky="0" algn="bl" rotWithShape="0" blurRad="101600" dist="38100" dir="8100000">
              <a:srgbClr val="000000">
                <a:alpha val="12000"/>
              </a:srgbClr>
            </a:outerShdw>
          </a:effectLst>
        </p:spPr>
      </p:sp>
      <p:sp>
        <p:nvSpPr>
          <p:cNvPr id="40" name="Text 38"/>
          <p:cNvSpPr/>
          <p:nvPr/>
        </p:nvSpPr>
        <p:spPr>
          <a:xfrm>
            <a:off x="384048" y="2697480"/>
            <a:ext cx="2523744" cy="1847088"/>
          </a:xfrm>
          <a:prstGeom prst="rect">
            <a:avLst/>
          </a:prstGeom>
          <a:noFill/>
          <a:ln/>
        </p:spPr>
        <p:txBody>
          <a:bodyPr wrap="square" lIns="0" tIns="0" rIns="0" bIns="0" rtlCol="0" anchor="ctr"/>
          <a:lstStyle/>
          <a:p>
            <a:pPr indent="0" marL="0">
              <a:lnSpc>
                <a:spcPct val="140000"/>
              </a:lnSpc>
              <a:buNone/>
            </a:pPr>
            <a:r>
              <a:rPr lang="en-US" sz="950" dirty="0">
                <a:solidFill>
                  <a:srgbClr val="B8D4E8"/>
                </a:solidFill>
                <a:latin typeface="Calibri" pitchFamily="34" charset="0"/>
                <a:ea typeface="Calibri" pitchFamily="34" charset="-122"/>
                <a:cs typeface="Calibri" pitchFamily="34" charset="-120"/>
              </a:rPr>
              <a:t>Test runner reads JSON test cases and uses Chime SDK's CreateSipMediaApplicationCall to place a real outbound SIP call.</a:t>
            </a:r>
            <a:endParaRPr lang="en-US" sz="950" dirty="0"/>
          </a:p>
        </p:txBody>
      </p:sp>
      <p:sp>
        <p:nvSpPr>
          <p:cNvPr id="41" name="Shape 39"/>
          <p:cNvSpPr/>
          <p:nvPr/>
        </p:nvSpPr>
        <p:spPr>
          <a:xfrm>
            <a:off x="3218688" y="2606040"/>
            <a:ext cx="2743200" cy="2029968"/>
          </a:xfrm>
          <a:prstGeom prst="rect">
            <a:avLst/>
          </a:prstGeom>
          <a:solidFill>
            <a:srgbClr val="0D2137"/>
          </a:solidFill>
          <a:ln/>
          <a:effectLst>
            <a:outerShdw sx="100000" sy="100000" kx="0" ky="0" algn="bl" rotWithShape="0" blurRad="101600" dist="38100" dir="8100000">
              <a:srgbClr val="000000">
                <a:alpha val="12000"/>
              </a:srgbClr>
            </a:outerShdw>
          </a:effectLst>
        </p:spPr>
      </p:sp>
      <p:sp>
        <p:nvSpPr>
          <p:cNvPr id="42" name="Text 40"/>
          <p:cNvSpPr/>
          <p:nvPr/>
        </p:nvSpPr>
        <p:spPr>
          <a:xfrm>
            <a:off x="3328416" y="2697480"/>
            <a:ext cx="2523744" cy="1847088"/>
          </a:xfrm>
          <a:prstGeom prst="rect">
            <a:avLst/>
          </a:prstGeom>
          <a:noFill/>
          <a:ln/>
        </p:spPr>
        <p:txBody>
          <a:bodyPr wrap="square" lIns="0" tIns="0" rIns="0" bIns="0" rtlCol="0" anchor="ctr"/>
          <a:lstStyle/>
          <a:p>
            <a:pPr indent="0" marL="0">
              <a:lnSpc>
                <a:spcPct val="140000"/>
              </a:lnSpc>
              <a:buNone/>
            </a:pPr>
            <a:r>
              <a:rPr lang="en-US" sz="950" dirty="0">
                <a:solidFill>
                  <a:srgbClr val="B8D4E8"/>
                </a:solidFill>
                <a:latin typeface="Calibri" pitchFamily="34" charset="0"/>
                <a:ea typeface="Calibri" pitchFamily="34" charset="-122"/>
                <a:cs typeface="Calibri" pitchFamily="34" charset="-120"/>
              </a:rPr>
              <a:t>Chime Lambda handler executes the call script: TTS prompts, DTMF tones, and wait steps to drive the IVR.</a:t>
            </a:r>
            <a:endParaRPr lang="en-US" sz="950" dirty="0"/>
          </a:p>
        </p:txBody>
      </p:sp>
      <p:sp>
        <p:nvSpPr>
          <p:cNvPr id="43" name="Shape 41"/>
          <p:cNvSpPr/>
          <p:nvPr/>
        </p:nvSpPr>
        <p:spPr>
          <a:xfrm>
            <a:off x="6163056" y="2606040"/>
            <a:ext cx="2743200" cy="2029968"/>
          </a:xfrm>
          <a:prstGeom prst="rect">
            <a:avLst/>
          </a:prstGeom>
          <a:solidFill>
            <a:srgbClr val="0D2137"/>
          </a:solidFill>
          <a:ln/>
          <a:effectLst>
            <a:outerShdw sx="100000" sy="100000" kx="0" ky="0" algn="bl" rotWithShape="0" blurRad="101600" dist="38100" dir="8100000">
              <a:srgbClr val="000000">
                <a:alpha val="12000"/>
              </a:srgbClr>
            </a:outerShdw>
          </a:effectLst>
        </p:spPr>
      </p:sp>
      <p:sp>
        <p:nvSpPr>
          <p:cNvPr id="44" name="Text 42"/>
          <p:cNvSpPr/>
          <p:nvPr/>
        </p:nvSpPr>
        <p:spPr>
          <a:xfrm>
            <a:off x="6272784" y="2697480"/>
            <a:ext cx="2523744" cy="1847088"/>
          </a:xfrm>
          <a:prstGeom prst="rect">
            <a:avLst/>
          </a:prstGeom>
          <a:noFill/>
          <a:ln/>
        </p:spPr>
        <p:txBody>
          <a:bodyPr wrap="square" lIns="0" tIns="0" rIns="0" bIns="0" rtlCol="0" anchor="ctr"/>
          <a:lstStyle/>
          <a:p>
            <a:pPr indent="0" marL="0">
              <a:lnSpc>
                <a:spcPct val="140000"/>
              </a:lnSpc>
              <a:buNone/>
            </a:pPr>
            <a:r>
              <a:rPr lang="en-US" sz="950" dirty="0">
                <a:solidFill>
                  <a:srgbClr val="B8D4E8"/>
                </a:solidFill>
                <a:latin typeface="Calibri" pitchFamily="34" charset="0"/>
                <a:ea typeface="Calibri" pitchFamily="34" charset="-122"/>
                <a:cs typeface="Calibri" pitchFamily="34" charset="-120"/>
              </a:rPr>
              <a:t>After the call, the framework polls Connect's CTR, CloudWatch Logs, and DynamoDB to validate every expected outcome.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BF5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65A82"/>
          </a:solidFill>
          <a:ln/>
        </p:spPr>
      </p:sp>
      <p:sp>
        <p:nvSpPr>
          <p:cNvPr id="3" name="Text 1"/>
          <p:cNvSpPr/>
          <p:nvPr/>
        </p:nvSpPr>
        <p:spPr>
          <a:xfrm>
            <a:off x="411480" y="64008"/>
            <a:ext cx="77724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Voice Flow Testing</a:t>
            </a:r>
            <a:endParaRPr lang="en-US" sz="2200" dirty="0"/>
          </a:p>
        </p:txBody>
      </p:sp>
      <p:sp>
        <p:nvSpPr>
          <p:cNvPr id="4" name="Text 2"/>
          <p:cNvSpPr/>
          <p:nvPr/>
        </p:nvSpPr>
        <p:spPr>
          <a:xfrm>
            <a:off x="411480" y="530352"/>
            <a:ext cx="8321040" cy="292608"/>
          </a:xfrm>
          <a:prstGeom prst="rect">
            <a:avLst/>
          </a:prstGeom>
          <a:noFill/>
          <a:ln/>
        </p:spPr>
        <p:txBody>
          <a:bodyPr wrap="square" lIns="0" tIns="0" rIns="0" bIns="0" rtlCol="0" anchor="ctr"/>
          <a:lstStyle/>
          <a:p>
            <a:pPr indent="0" marL="0">
              <a:buNone/>
            </a:pPr>
            <a:r>
              <a:rPr lang="en-US" sz="1100" i="1" dirty="0">
                <a:solidFill>
                  <a:srgbClr val="2C5F7A"/>
                </a:solidFill>
                <a:latin typeface="Calibri" pitchFamily="34" charset="0"/>
                <a:ea typeface="Calibri" pitchFamily="34" charset="-122"/>
                <a:cs typeface="Calibri" pitchFamily="34" charset="-120"/>
              </a:rPr>
              <a:t>End-to-end call simulation using AWS Chime SDK SIP Media Application</a:t>
            </a:r>
            <a:endParaRPr lang="en-US" sz="1100" dirty="0"/>
          </a:p>
        </p:txBody>
      </p:sp>
      <p:sp>
        <p:nvSpPr>
          <p:cNvPr id="5" name="Shape 3"/>
          <p:cNvSpPr/>
          <p:nvPr/>
        </p:nvSpPr>
        <p:spPr>
          <a:xfrm>
            <a:off x="0" y="4892040"/>
            <a:ext cx="9144000" cy="251460"/>
          </a:xfrm>
          <a:prstGeom prst="rect">
            <a:avLst/>
          </a:prstGeom>
          <a:solidFill>
            <a:srgbClr val="065A82"/>
          </a:solidFill>
          <a:ln/>
        </p:spPr>
      </p:sp>
      <p:sp>
        <p:nvSpPr>
          <p:cNvPr id="6" name="Text 4"/>
          <p:cNvSpPr/>
          <p:nvPr/>
        </p:nvSpPr>
        <p:spPr>
          <a:xfrm>
            <a:off x="457200" y="4901184"/>
            <a:ext cx="7315200" cy="228600"/>
          </a:xfrm>
          <a:prstGeom prst="rect">
            <a:avLst/>
          </a:prstGeom>
          <a:noFill/>
          <a:ln/>
        </p:spPr>
        <p:txBody>
          <a:bodyPr wrap="square" lIns="0" tIns="0" rIns="0" bIns="0" rtlCol="0" anchor="ctr"/>
          <a:lstStyle/>
          <a:p>
            <a:pPr indent="0" marL="0">
              <a:buNone/>
            </a:pPr>
            <a:r>
              <a:rPr lang="en-US" sz="800" dirty="0">
                <a:solidFill>
                  <a:srgbClr val="B8D4E8"/>
                </a:solidFill>
                <a:latin typeface="Calibri" pitchFamily="34" charset="0"/>
                <a:ea typeface="Calibri" pitchFamily="34" charset="-122"/>
                <a:cs typeface="Calibri" pitchFamily="34" charset="-120"/>
              </a:rPr>
              <a:t>Amazon Connect Automation Testing Framework  |  Confidential</a:t>
            </a:r>
            <a:endParaRPr lang="en-US" sz="800" dirty="0"/>
          </a:p>
        </p:txBody>
      </p:sp>
      <p:sp>
        <p:nvSpPr>
          <p:cNvPr id="7" name="Shape 5"/>
          <p:cNvSpPr/>
          <p:nvPr/>
        </p:nvSpPr>
        <p:spPr>
          <a:xfrm>
            <a:off x="365760" y="777240"/>
            <a:ext cx="5029200" cy="56692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512064" y="877824"/>
            <a:ext cx="347472" cy="347472"/>
          </a:xfrm>
          <a:prstGeom prst="rect">
            <a:avLst/>
          </a:prstGeom>
        </p:spPr>
      </p:pic>
      <p:sp>
        <p:nvSpPr>
          <p:cNvPr id="9" name="Text 6"/>
          <p:cNvSpPr/>
          <p:nvPr/>
        </p:nvSpPr>
        <p:spPr>
          <a:xfrm>
            <a:off x="978408" y="859536"/>
            <a:ext cx="425196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First-call &amp; returning-caller scenarios — validates greetingPlayed attribute branching</a:t>
            </a:r>
            <a:endParaRPr lang="en-US" sz="950" dirty="0"/>
          </a:p>
        </p:txBody>
      </p:sp>
      <p:sp>
        <p:nvSpPr>
          <p:cNvPr id="10" name="Shape 7"/>
          <p:cNvSpPr/>
          <p:nvPr/>
        </p:nvSpPr>
        <p:spPr>
          <a:xfrm>
            <a:off x="365760" y="1444752"/>
            <a:ext cx="5029200" cy="56692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12064" y="1545336"/>
            <a:ext cx="347472" cy="347472"/>
          </a:xfrm>
          <a:prstGeom prst="rect">
            <a:avLst/>
          </a:prstGeom>
        </p:spPr>
      </p:pic>
      <p:sp>
        <p:nvSpPr>
          <p:cNvPr id="12" name="Text 8"/>
          <p:cNvSpPr/>
          <p:nvPr/>
        </p:nvSpPr>
        <p:spPr>
          <a:xfrm>
            <a:off x="978408" y="1527048"/>
            <a:ext cx="425196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DTMF scripted menus — Press 1 (Queue), Press 2 (Secure Input), Press 3 (Lambda dip)</a:t>
            </a:r>
            <a:endParaRPr lang="en-US" sz="950" dirty="0"/>
          </a:p>
        </p:txBody>
      </p:sp>
      <p:sp>
        <p:nvSpPr>
          <p:cNvPr id="13" name="Shape 9"/>
          <p:cNvSpPr/>
          <p:nvPr/>
        </p:nvSpPr>
        <p:spPr>
          <a:xfrm>
            <a:off x="365760" y="2112264"/>
            <a:ext cx="5029200" cy="56692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4" name="Image 2" descr="preencoded.png">    </p:cNvPr>
          <p:cNvPicPr>
            <a:picLocks noChangeAspect="1"/>
          </p:cNvPicPr>
          <p:nvPr/>
        </p:nvPicPr>
        <p:blipFill>
          <a:blip r:embed="rId3"/>
          <a:stretch>
            <a:fillRect/>
          </a:stretch>
        </p:blipFill>
        <p:spPr>
          <a:xfrm>
            <a:off x="512064" y="2212848"/>
            <a:ext cx="347472" cy="347472"/>
          </a:xfrm>
          <a:prstGeom prst="rect">
            <a:avLst/>
          </a:prstGeom>
        </p:spPr>
      </p:pic>
      <p:sp>
        <p:nvSpPr>
          <p:cNvPr id="15" name="Text 10"/>
          <p:cNvSpPr/>
          <p:nvPr/>
        </p:nvSpPr>
        <p:spPr>
          <a:xfrm>
            <a:off x="978408" y="2194560"/>
            <a:ext cx="425196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Multi-turn &amp; reprompt paths — simulates no-input, invalid input, and retry loops</a:t>
            </a:r>
            <a:endParaRPr lang="en-US" sz="950" dirty="0"/>
          </a:p>
        </p:txBody>
      </p:sp>
      <p:sp>
        <p:nvSpPr>
          <p:cNvPr id="16" name="Shape 11"/>
          <p:cNvSpPr/>
          <p:nvPr/>
        </p:nvSpPr>
        <p:spPr>
          <a:xfrm>
            <a:off x="365760" y="2779776"/>
            <a:ext cx="5029200" cy="56692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512064" y="2880360"/>
            <a:ext cx="347472" cy="347472"/>
          </a:xfrm>
          <a:prstGeom prst="rect">
            <a:avLst/>
          </a:prstGeom>
        </p:spPr>
      </p:pic>
      <p:sp>
        <p:nvSpPr>
          <p:cNvPr id="18" name="Text 12"/>
          <p:cNvSpPr/>
          <p:nvPr/>
        </p:nvSpPr>
        <p:spPr>
          <a:xfrm>
            <a:off x="978408" y="2862072"/>
            <a:ext cx="425196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Transfer tracking — verifies sub-flow transfers (SampleSecureInput, SampleLambdaIntegration)</a:t>
            </a:r>
            <a:endParaRPr lang="en-US" sz="950" dirty="0"/>
          </a:p>
        </p:txBody>
      </p:sp>
      <p:sp>
        <p:nvSpPr>
          <p:cNvPr id="19" name="Shape 13"/>
          <p:cNvSpPr/>
          <p:nvPr/>
        </p:nvSpPr>
        <p:spPr>
          <a:xfrm>
            <a:off x="365760" y="3447288"/>
            <a:ext cx="5029200" cy="56692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0" name="Image 4" descr="preencoded.png">    </p:cNvPr>
          <p:cNvPicPr>
            <a:picLocks noChangeAspect="1"/>
          </p:cNvPicPr>
          <p:nvPr/>
        </p:nvPicPr>
        <p:blipFill>
          <a:blip r:embed="rId5"/>
          <a:stretch>
            <a:fillRect/>
          </a:stretch>
        </p:blipFill>
        <p:spPr>
          <a:xfrm>
            <a:off x="512064" y="3547872"/>
            <a:ext cx="347472" cy="347472"/>
          </a:xfrm>
          <a:prstGeom prst="rect">
            <a:avLst/>
          </a:prstGeom>
        </p:spPr>
      </p:pic>
      <p:sp>
        <p:nvSpPr>
          <p:cNvPr id="21" name="Text 14"/>
          <p:cNvSpPr/>
          <p:nvPr/>
        </p:nvSpPr>
        <p:spPr>
          <a:xfrm>
            <a:off x="978408" y="3529584"/>
            <a:ext cx="425196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DynamoDB side-effect validation — seeded items cleaned up via pytest finalizer + TTL</a:t>
            </a:r>
            <a:endParaRPr lang="en-US" sz="950" dirty="0"/>
          </a:p>
        </p:txBody>
      </p:sp>
      <p:sp>
        <p:nvSpPr>
          <p:cNvPr id="22" name="Shape 15"/>
          <p:cNvSpPr/>
          <p:nvPr/>
        </p:nvSpPr>
        <p:spPr>
          <a:xfrm>
            <a:off x="365760" y="4114800"/>
            <a:ext cx="5029200" cy="56692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3" name="Image 5" descr="preencoded.png">    </p:cNvPr>
          <p:cNvPicPr>
            <a:picLocks noChangeAspect="1"/>
          </p:cNvPicPr>
          <p:nvPr/>
        </p:nvPicPr>
        <p:blipFill>
          <a:blip r:embed="rId6"/>
          <a:stretch>
            <a:fillRect/>
          </a:stretch>
        </p:blipFill>
        <p:spPr>
          <a:xfrm>
            <a:off x="512064" y="4215384"/>
            <a:ext cx="347472" cy="347472"/>
          </a:xfrm>
          <a:prstGeom prst="rect">
            <a:avLst/>
          </a:prstGeom>
        </p:spPr>
      </p:pic>
      <p:sp>
        <p:nvSpPr>
          <p:cNvPr id="24" name="Text 16"/>
          <p:cNvSpPr/>
          <p:nvPr/>
        </p:nvSpPr>
        <p:spPr>
          <a:xfrm>
            <a:off x="978408" y="4197096"/>
            <a:ext cx="425196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CloudWatch Logs — contact flow execution path verified via Logs Insights queries</a:t>
            </a:r>
            <a:endParaRPr lang="en-US" sz="950" dirty="0"/>
          </a:p>
        </p:txBody>
      </p:sp>
      <p:sp>
        <p:nvSpPr>
          <p:cNvPr id="25" name="Shape 17"/>
          <p:cNvSpPr/>
          <p:nvPr/>
        </p:nvSpPr>
        <p:spPr>
          <a:xfrm>
            <a:off x="5623560" y="713232"/>
            <a:ext cx="3154680" cy="150876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26" name="Text 18"/>
          <p:cNvSpPr/>
          <p:nvPr/>
        </p:nvSpPr>
        <p:spPr>
          <a:xfrm>
            <a:off x="5715000" y="749808"/>
            <a:ext cx="29718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Sample Test Case</a:t>
            </a:r>
            <a:endParaRPr lang="en-US" sz="1100" dirty="0"/>
          </a:p>
        </p:txBody>
      </p:sp>
      <p:sp>
        <p:nvSpPr>
          <p:cNvPr id="27" name="Text 19"/>
          <p:cNvSpPr/>
          <p:nvPr/>
        </p:nvSpPr>
        <p:spPr>
          <a:xfrm>
            <a:off x="5715000" y="1060704"/>
            <a:ext cx="2971800" cy="1097280"/>
          </a:xfrm>
          <a:prstGeom prst="rect">
            <a:avLst/>
          </a:prstGeom>
          <a:noFill/>
          <a:ln/>
        </p:spPr>
        <p:txBody>
          <a:bodyPr wrap="square" lIns="0" tIns="0" rIns="0" bIns="0" rtlCol="0" anchor="ctr"/>
          <a:lstStyle/>
          <a:p>
            <a:pPr indent="0" marL="0">
              <a:lnSpc>
                <a:spcPct val="130000"/>
              </a:lnSpc>
              <a:buNone/>
            </a:pPr>
            <a:r>
              <a:rPr lang="en-US" sz="850" dirty="0">
                <a:solidFill>
                  <a:srgbClr val="B8D4E8"/>
                </a:solidFill>
                <a:latin typeface="Consolas" pitchFamily="34" charset="0"/>
                <a:ea typeface="Consolas" pitchFamily="34" charset="-122"/>
                <a:cs typeface="Consolas" pitchFamily="34" charset="-120"/>
              </a:rPr>
              <a:t>CF-E2E-001 · First Call Happy Path</a:t>
            </a:r>
            <a:endParaRPr lang="en-US" sz="850" dirty="0"/>
          </a:p>
          <a:p>
            <a:pPr indent="0" marL="0">
              <a:lnSpc>
                <a:spcPct val="130000"/>
              </a:lnSpc>
              <a:buNone/>
            </a:pPr>
            <a:r>
              <a:rPr lang="en-US" sz="850" dirty="0">
                <a:solidFill>
                  <a:srgbClr val="B8D4E8"/>
                </a:solidFill>
                <a:latin typeface="Consolas" pitchFamily="34" charset="0"/>
                <a:ea typeface="Consolas" pitchFamily="34" charset="-122"/>
                <a:cs typeface="Consolas" pitchFamily="34" charset="-120"/>
              </a:rPr>
              <a:t>"Press 1, Join BasicQueue"</a:t>
            </a:r>
            <a:endParaRPr lang="en-US" sz="850" dirty="0"/>
          </a:p>
          <a:p>
            <a:pPr indent="0" marL="0">
              <a:lnSpc>
                <a:spcPct val="130000"/>
              </a:lnSpc>
              <a:buNone/>
            </a:pPr>
            <a:endParaRPr lang="en-US" sz="850" dirty="0"/>
          </a:p>
          <a:p>
            <a:pPr indent="0" marL="0">
              <a:lnSpc>
                <a:spcPct val="130000"/>
              </a:lnSpc>
              <a:buNone/>
            </a:pPr>
            <a:r>
              <a:rPr lang="en-US" sz="850" dirty="0">
                <a:solidFill>
                  <a:srgbClr val="B8D4E8"/>
                </a:solidFill>
                <a:latin typeface="Consolas" pitchFamily="34" charset="0"/>
                <a:ea typeface="Consolas" pitchFamily="34" charset="-122"/>
                <a:cs typeface="Consolas" pitchFamily="34" charset="-120"/>
              </a:rPr>
              <a:t>Expects:</a:t>
            </a:r>
            <a:endParaRPr lang="en-US" sz="850" dirty="0"/>
          </a:p>
          <a:p>
            <a:pPr indent="0" marL="0">
              <a:lnSpc>
                <a:spcPct val="130000"/>
              </a:lnSpc>
              <a:buNone/>
            </a:pPr>
            <a:r>
              <a:rPr lang="en-US" sz="850" dirty="0">
                <a:solidFill>
                  <a:srgbClr val="B8D4E8"/>
                </a:solidFill>
                <a:latin typeface="Consolas" pitchFamily="34" charset="0"/>
                <a:ea typeface="Consolas" pitchFamily="34" charset="-122"/>
                <a:cs typeface="Consolas" pitchFamily="34" charset="-120"/>
              </a:rPr>
              <a:t>  • greetingPlayed = true</a:t>
            </a:r>
            <a:endParaRPr lang="en-US" sz="850" dirty="0"/>
          </a:p>
          <a:p>
            <a:pPr indent="0" marL="0">
              <a:lnSpc>
                <a:spcPct val="130000"/>
              </a:lnSpc>
              <a:buNone/>
            </a:pPr>
            <a:r>
              <a:rPr lang="en-US" sz="850" dirty="0">
                <a:solidFill>
                  <a:srgbClr val="B8D4E8"/>
                </a:solidFill>
                <a:latin typeface="Consolas" pitchFamily="34" charset="0"/>
                <a:ea typeface="Consolas" pitchFamily="34" charset="-122"/>
                <a:cs typeface="Consolas" pitchFamily="34" charset="-120"/>
              </a:rPr>
              <a:t>  • Queue = BasicQueue</a:t>
            </a:r>
            <a:endParaRPr lang="en-US" sz="850" dirty="0"/>
          </a:p>
          <a:p>
            <a:pPr indent="0" marL="0">
              <a:lnSpc>
                <a:spcPct val="130000"/>
              </a:lnSpc>
              <a:buNone/>
            </a:pPr>
            <a:r>
              <a:rPr lang="en-US" sz="850" dirty="0">
                <a:solidFill>
                  <a:srgbClr val="B8D4E8"/>
                </a:solidFill>
                <a:latin typeface="Consolas" pitchFamily="34" charset="0"/>
                <a:ea typeface="Consolas" pitchFamily="34" charset="-122"/>
                <a:cs typeface="Consolas" pitchFamily="34" charset="-120"/>
              </a:rPr>
              <a:t>  • CTR status = Queued</a:t>
            </a:r>
            <a:endParaRPr lang="en-US" sz="850" dirty="0"/>
          </a:p>
        </p:txBody>
      </p:sp>
      <p:sp>
        <p:nvSpPr>
          <p:cNvPr id="28" name="Shape 20"/>
          <p:cNvSpPr/>
          <p:nvPr/>
        </p:nvSpPr>
        <p:spPr>
          <a:xfrm>
            <a:off x="5623560" y="2423160"/>
            <a:ext cx="3154680" cy="2331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9" name="Shape 21"/>
          <p:cNvSpPr/>
          <p:nvPr/>
        </p:nvSpPr>
        <p:spPr>
          <a:xfrm>
            <a:off x="5623560" y="2423160"/>
            <a:ext cx="3154680" cy="320040"/>
          </a:xfrm>
          <a:prstGeom prst="rect">
            <a:avLst/>
          </a:prstGeom>
          <a:solidFill>
            <a:srgbClr val="1C7293"/>
          </a:solidFill>
          <a:ln/>
        </p:spPr>
      </p:sp>
      <p:sp>
        <p:nvSpPr>
          <p:cNvPr id="30" name="Text 22"/>
          <p:cNvSpPr/>
          <p:nvPr/>
        </p:nvSpPr>
        <p:spPr>
          <a:xfrm>
            <a:off x="5715000" y="2432304"/>
            <a:ext cx="29718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Poll Timeouts</a:t>
            </a:r>
            <a:endParaRPr lang="en-US" sz="1100" dirty="0"/>
          </a:p>
        </p:txBody>
      </p:sp>
      <p:sp>
        <p:nvSpPr>
          <p:cNvPr id="31" name="Text 23"/>
          <p:cNvSpPr/>
          <p:nvPr/>
        </p:nvSpPr>
        <p:spPr>
          <a:xfrm>
            <a:off x="5715000" y="2816352"/>
            <a:ext cx="1280160" cy="274320"/>
          </a:xfrm>
          <a:prstGeom prst="rect">
            <a:avLst/>
          </a:prstGeom>
          <a:noFill/>
          <a:ln/>
        </p:spPr>
        <p:txBody>
          <a:bodyPr wrap="square" lIns="0" tIns="0" rIns="0" bIns="0" rtlCol="0" anchor="ctr"/>
          <a:lstStyle/>
          <a:p>
            <a:pPr indent="0" marL="0">
              <a:buNone/>
            </a:pPr>
            <a:r>
              <a:rPr lang="en-US" sz="900" dirty="0">
                <a:solidFill>
                  <a:srgbClr val="0A2342"/>
                </a:solidFill>
                <a:latin typeface="Calibri" pitchFamily="34" charset="0"/>
                <a:ea typeface="Calibri" pitchFamily="34" charset="-122"/>
                <a:cs typeface="Calibri" pitchFamily="34" charset="-120"/>
              </a:rPr>
              <a:t>Queue check</a:t>
            </a:r>
            <a:endParaRPr lang="en-US" sz="900" dirty="0"/>
          </a:p>
        </p:txBody>
      </p:sp>
      <p:sp>
        <p:nvSpPr>
          <p:cNvPr id="32" name="Text 24"/>
          <p:cNvSpPr/>
          <p:nvPr/>
        </p:nvSpPr>
        <p:spPr>
          <a:xfrm>
            <a:off x="7040880" y="2816352"/>
            <a:ext cx="731520" cy="274320"/>
          </a:xfrm>
          <a:prstGeom prst="rect">
            <a:avLst/>
          </a:prstGeom>
          <a:noFill/>
          <a:ln/>
        </p:spPr>
        <p:txBody>
          <a:bodyPr wrap="square" lIns="0" tIns="0" rIns="0" bIns="0" rtlCol="0" anchor="ctr"/>
          <a:lstStyle/>
          <a:p>
            <a:pPr indent="0" marL="0">
              <a:buNone/>
            </a:pPr>
            <a:r>
              <a:rPr lang="en-US" sz="900" b="1" dirty="0">
                <a:solidFill>
                  <a:srgbClr val="065A82"/>
                </a:solidFill>
                <a:latin typeface="Calibri" pitchFamily="34" charset="0"/>
                <a:ea typeface="Calibri" pitchFamily="34" charset="-122"/>
                <a:cs typeface="Calibri" pitchFamily="34" charset="-120"/>
              </a:rPr>
              <a:t>60s</a:t>
            </a:r>
            <a:endParaRPr lang="en-US" sz="900" dirty="0"/>
          </a:p>
        </p:txBody>
      </p:sp>
      <p:sp>
        <p:nvSpPr>
          <p:cNvPr id="33" name="Text 25"/>
          <p:cNvSpPr/>
          <p:nvPr/>
        </p:nvSpPr>
        <p:spPr>
          <a:xfrm>
            <a:off x="7818120" y="2816352"/>
            <a:ext cx="822960" cy="274320"/>
          </a:xfrm>
          <a:prstGeom prst="rect">
            <a:avLst/>
          </a:prstGeom>
          <a:noFill/>
          <a:ln/>
        </p:spPr>
        <p:txBody>
          <a:bodyPr wrap="square" lIns="0" tIns="0" rIns="0" bIns="0" rtlCol="0" anchor="ctr"/>
          <a:lstStyle/>
          <a:p>
            <a:pPr indent="0" marL="0">
              <a:buNone/>
            </a:pPr>
            <a:r>
              <a:rPr lang="en-US" sz="850" i="1" dirty="0">
                <a:solidFill>
                  <a:srgbClr val="2C5F7A"/>
                </a:solidFill>
                <a:latin typeface="Calibri" pitchFamily="34" charset="0"/>
                <a:ea typeface="Calibri" pitchFamily="34" charset="-122"/>
                <a:cs typeface="Calibri" pitchFamily="34" charset="-120"/>
              </a:rPr>
              <a:t>5s poll</a:t>
            </a:r>
            <a:endParaRPr lang="en-US" sz="850" dirty="0"/>
          </a:p>
        </p:txBody>
      </p:sp>
      <p:sp>
        <p:nvSpPr>
          <p:cNvPr id="34" name="Text 26"/>
          <p:cNvSpPr/>
          <p:nvPr/>
        </p:nvSpPr>
        <p:spPr>
          <a:xfrm>
            <a:off x="5715000" y="3255264"/>
            <a:ext cx="1280160" cy="274320"/>
          </a:xfrm>
          <a:prstGeom prst="rect">
            <a:avLst/>
          </a:prstGeom>
          <a:noFill/>
          <a:ln/>
        </p:spPr>
        <p:txBody>
          <a:bodyPr wrap="square" lIns="0" tIns="0" rIns="0" bIns="0" rtlCol="0" anchor="ctr"/>
          <a:lstStyle/>
          <a:p>
            <a:pPr indent="0" marL="0">
              <a:buNone/>
            </a:pPr>
            <a:r>
              <a:rPr lang="en-US" sz="900" dirty="0">
                <a:solidFill>
                  <a:srgbClr val="0A2342"/>
                </a:solidFill>
                <a:latin typeface="Calibri" pitchFamily="34" charset="0"/>
                <a:ea typeface="Calibri" pitchFamily="34" charset="-122"/>
                <a:cs typeface="Calibri" pitchFamily="34" charset="-120"/>
              </a:rPr>
              <a:t>CTR record</a:t>
            </a:r>
            <a:endParaRPr lang="en-US" sz="900" dirty="0"/>
          </a:p>
        </p:txBody>
      </p:sp>
      <p:sp>
        <p:nvSpPr>
          <p:cNvPr id="35" name="Text 27"/>
          <p:cNvSpPr/>
          <p:nvPr/>
        </p:nvSpPr>
        <p:spPr>
          <a:xfrm>
            <a:off x="7040880" y="3255264"/>
            <a:ext cx="731520" cy="274320"/>
          </a:xfrm>
          <a:prstGeom prst="rect">
            <a:avLst/>
          </a:prstGeom>
          <a:noFill/>
          <a:ln/>
        </p:spPr>
        <p:txBody>
          <a:bodyPr wrap="square" lIns="0" tIns="0" rIns="0" bIns="0" rtlCol="0" anchor="ctr"/>
          <a:lstStyle/>
          <a:p>
            <a:pPr indent="0" marL="0">
              <a:buNone/>
            </a:pPr>
            <a:r>
              <a:rPr lang="en-US" sz="900" b="1" dirty="0">
                <a:solidFill>
                  <a:srgbClr val="065A82"/>
                </a:solidFill>
                <a:latin typeface="Calibri" pitchFamily="34" charset="0"/>
                <a:ea typeface="Calibri" pitchFamily="34" charset="-122"/>
                <a:cs typeface="Calibri" pitchFamily="34" charset="-120"/>
              </a:rPr>
              <a:t>300s</a:t>
            </a:r>
            <a:endParaRPr lang="en-US" sz="900" dirty="0"/>
          </a:p>
        </p:txBody>
      </p:sp>
      <p:sp>
        <p:nvSpPr>
          <p:cNvPr id="36" name="Text 28"/>
          <p:cNvSpPr/>
          <p:nvPr/>
        </p:nvSpPr>
        <p:spPr>
          <a:xfrm>
            <a:off x="7818120" y="3255264"/>
            <a:ext cx="822960" cy="274320"/>
          </a:xfrm>
          <a:prstGeom prst="rect">
            <a:avLst/>
          </a:prstGeom>
          <a:noFill/>
          <a:ln/>
        </p:spPr>
        <p:txBody>
          <a:bodyPr wrap="square" lIns="0" tIns="0" rIns="0" bIns="0" rtlCol="0" anchor="ctr"/>
          <a:lstStyle/>
          <a:p>
            <a:pPr indent="0" marL="0">
              <a:buNone/>
            </a:pPr>
            <a:r>
              <a:rPr lang="en-US" sz="850" i="1" dirty="0">
                <a:solidFill>
                  <a:srgbClr val="2C5F7A"/>
                </a:solidFill>
                <a:latin typeface="Calibri" pitchFamily="34" charset="0"/>
                <a:ea typeface="Calibri" pitchFamily="34" charset="-122"/>
                <a:cs typeface="Calibri" pitchFamily="34" charset="-120"/>
              </a:rPr>
              <a:t>10s poll</a:t>
            </a:r>
            <a:endParaRPr lang="en-US" sz="850" dirty="0"/>
          </a:p>
        </p:txBody>
      </p:sp>
      <p:sp>
        <p:nvSpPr>
          <p:cNvPr id="37" name="Text 29"/>
          <p:cNvSpPr/>
          <p:nvPr/>
        </p:nvSpPr>
        <p:spPr>
          <a:xfrm>
            <a:off x="5715000" y="3694176"/>
            <a:ext cx="1280160" cy="274320"/>
          </a:xfrm>
          <a:prstGeom prst="rect">
            <a:avLst/>
          </a:prstGeom>
          <a:noFill/>
          <a:ln/>
        </p:spPr>
        <p:txBody>
          <a:bodyPr wrap="square" lIns="0" tIns="0" rIns="0" bIns="0" rtlCol="0" anchor="ctr"/>
          <a:lstStyle/>
          <a:p>
            <a:pPr indent="0" marL="0">
              <a:buNone/>
            </a:pPr>
            <a:r>
              <a:rPr lang="en-US" sz="900" dirty="0">
                <a:solidFill>
                  <a:srgbClr val="0A2342"/>
                </a:solidFill>
                <a:latin typeface="Calibri" pitchFamily="34" charset="0"/>
                <a:ea typeface="Calibri" pitchFamily="34" charset="-122"/>
                <a:cs typeface="Calibri" pitchFamily="34" charset="-120"/>
              </a:rPr>
              <a:t>CloudWatch</a:t>
            </a:r>
            <a:endParaRPr lang="en-US" sz="900" dirty="0"/>
          </a:p>
        </p:txBody>
      </p:sp>
      <p:sp>
        <p:nvSpPr>
          <p:cNvPr id="38" name="Text 30"/>
          <p:cNvSpPr/>
          <p:nvPr/>
        </p:nvSpPr>
        <p:spPr>
          <a:xfrm>
            <a:off x="7040880" y="3694176"/>
            <a:ext cx="731520" cy="274320"/>
          </a:xfrm>
          <a:prstGeom prst="rect">
            <a:avLst/>
          </a:prstGeom>
          <a:noFill/>
          <a:ln/>
        </p:spPr>
        <p:txBody>
          <a:bodyPr wrap="square" lIns="0" tIns="0" rIns="0" bIns="0" rtlCol="0" anchor="ctr"/>
          <a:lstStyle/>
          <a:p>
            <a:pPr indent="0" marL="0">
              <a:buNone/>
            </a:pPr>
            <a:r>
              <a:rPr lang="en-US" sz="900" b="1" dirty="0">
                <a:solidFill>
                  <a:srgbClr val="065A82"/>
                </a:solidFill>
                <a:latin typeface="Calibri" pitchFamily="34" charset="0"/>
                <a:ea typeface="Calibri" pitchFamily="34" charset="-122"/>
                <a:cs typeface="Calibri" pitchFamily="34" charset="-120"/>
              </a:rPr>
              <a:t>120s</a:t>
            </a:r>
            <a:endParaRPr lang="en-US" sz="900" dirty="0"/>
          </a:p>
        </p:txBody>
      </p:sp>
      <p:sp>
        <p:nvSpPr>
          <p:cNvPr id="39" name="Text 31"/>
          <p:cNvSpPr/>
          <p:nvPr/>
        </p:nvSpPr>
        <p:spPr>
          <a:xfrm>
            <a:off x="7818120" y="3694176"/>
            <a:ext cx="822960" cy="274320"/>
          </a:xfrm>
          <a:prstGeom prst="rect">
            <a:avLst/>
          </a:prstGeom>
          <a:noFill/>
          <a:ln/>
        </p:spPr>
        <p:txBody>
          <a:bodyPr wrap="square" lIns="0" tIns="0" rIns="0" bIns="0" rtlCol="0" anchor="ctr"/>
          <a:lstStyle/>
          <a:p>
            <a:pPr indent="0" marL="0">
              <a:buNone/>
            </a:pPr>
            <a:r>
              <a:rPr lang="en-US" sz="850" i="1" dirty="0">
                <a:solidFill>
                  <a:srgbClr val="2C5F7A"/>
                </a:solidFill>
                <a:latin typeface="Calibri" pitchFamily="34" charset="0"/>
                <a:ea typeface="Calibri" pitchFamily="34" charset="-122"/>
                <a:cs typeface="Calibri" pitchFamily="34" charset="-120"/>
              </a:rPr>
              <a:t>5s poll</a:t>
            </a:r>
            <a:endParaRPr lang="en-US" sz="850" dirty="0"/>
          </a:p>
        </p:txBody>
      </p:sp>
      <p:sp>
        <p:nvSpPr>
          <p:cNvPr id="40" name="Text 32"/>
          <p:cNvSpPr/>
          <p:nvPr/>
        </p:nvSpPr>
        <p:spPr>
          <a:xfrm>
            <a:off x="5715000" y="4133088"/>
            <a:ext cx="1280160" cy="274320"/>
          </a:xfrm>
          <a:prstGeom prst="rect">
            <a:avLst/>
          </a:prstGeom>
          <a:noFill/>
          <a:ln/>
        </p:spPr>
        <p:txBody>
          <a:bodyPr wrap="square" lIns="0" tIns="0" rIns="0" bIns="0" rtlCol="0" anchor="ctr"/>
          <a:lstStyle/>
          <a:p>
            <a:pPr indent="0" marL="0">
              <a:buNone/>
            </a:pPr>
            <a:r>
              <a:rPr lang="en-US" sz="900" dirty="0">
                <a:solidFill>
                  <a:srgbClr val="0A2342"/>
                </a:solidFill>
                <a:latin typeface="Calibri" pitchFamily="34" charset="0"/>
                <a:ea typeface="Calibri" pitchFamily="34" charset="-122"/>
                <a:cs typeface="Calibri" pitchFamily="34" charset="-120"/>
              </a:rPr>
              <a:t>Transcribe</a:t>
            </a:r>
            <a:endParaRPr lang="en-US" sz="900" dirty="0"/>
          </a:p>
        </p:txBody>
      </p:sp>
      <p:sp>
        <p:nvSpPr>
          <p:cNvPr id="41" name="Text 33"/>
          <p:cNvSpPr/>
          <p:nvPr/>
        </p:nvSpPr>
        <p:spPr>
          <a:xfrm>
            <a:off x="7040880" y="4133088"/>
            <a:ext cx="731520" cy="274320"/>
          </a:xfrm>
          <a:prstGeom prst="rect">
            <a:avLst/>
          </a:prstGeom>
          <a:noFill/>
          <a:ln/>
        </p:spPr>
        <p:txBody>
          <a:bodyPr wrap="square" lIns="0" tIns="0" rIns="0" bIns="0" rtlCol="0" anchor="ctr"/>
          <a:lstStyle/>
          <a:p>
            <a:pPr indent="0" marL="0">
              <a:buNone/>
            </a:pPr>
            <a:r>
              <a:rPr lang="en-US" sz="900" b="1" dirty="0">
                <a:solidFill>
                  <a:srgbClr val="065A82"/>
                </a:solidFill>
                <a:latin typeface="Calibri" pitchFamily="34" charset="0"/>
                <a:ea typeface="Calibri" pitchFamily="34" charset="-122"/>
                <a:cs typeface="Calibri" pitchFamily="34" charset="-120"/>
              </a:rPr>
              <a:t>300s</a:t>
            </a:r>
            <a:endParaRPr lang="en-US" sz="900" dirty="0"/>
          </a:p>
        </p:txBody>
      </p:sp>
      <p:sp>
        <p:nvSpPr>
          <p:cNvPr id="42" name="Text 34"/>
          <p:cNvSpPr/>
          <p:nvPr/>
        </p:nvSpPr>
        <p:spPr>
          <a:xfrm>
            <a:off x="7818120" y="4133088"/>
            <a:ext cx="822960" cy="274320"/>
          </a:xfrm>
          <a:prstGeom prst="rect">
            <a:avLst/>
          </a:prstGeom>
          <a:noFill/>
          <a:ln/>
        </p:spPr>
        <p:txBody>
          <a:bodyPr wrap="square" lIns="0" tIns="0" rIns="0" bIns="0" rtlCol="0" anchor="ctr"/>
          <a:lstStyle/>
          <a:p>
            <a:pPr indent="0" marL="0">
              <a:buNone/>
            </a:pPr>
            <a:r>
              <a:rPr lang="en-US" sz="850" i="1" dirty="0">
                <a:solidFill>
                  <a:srgbClr val="2C5F7A"/>
                </a:solidFill>
                <a:latin typeface="Calibri" pitchFamily="34" charset="0"/>
                <a:ea typeface="Calibri" pitchFamily="34" charset="-122"/>
                <a:cs typeface="Calibri" pitchFamily="34" charset="-120"/>
              </a:rPr>
              <a:t>15s poll</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BF5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65A82"/>
          </a:solidFill>
          <a:ln/>
        </p:spPr>
      </p:sp>
      <p:sp>
        <p:nvSpPr>
          <p:cNvPr id="3" name="Text 1"/>
          <p:cNvSpPr/>
          <p:nvPr/>
        </p:nvSpPr>
        <p:spPr>
          <a:xfrm>
            <a:off x="411480" y="64008"/>
            <a:ext cx="77724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Lambda Regression Testing · LocalStack</a:t>
            </a:r>
            <a:endParaRPr lang="en-US" sz="2200" dirty="0"/>
          </a:p>
        </p:txBody>
      </p:sp>
      <p:sp>
        <p:nvSpPr>
          <p:cNvPr id="4" name="Text 2"/>
          <p:cNvSpPr/>
          <p:nvPr/>
        </p:nvSpPr>
        <p:spPr>
          <a:xfrm>
            <a:off x="411480" y="530352"/>
            <a:ext cx="8321040" cy="292608"/>
          </a:xfrm>
          <a:prstGeom prst="rect">
            <a:avLst/>
          </a:prstGeom>
          <a:noFill/>
          <a:ln/>
        </p:spPr>
        <p:txBody>
          <a:bodyPr wrap="square" lIns="0" tIns="0" rIns="0" bIns="0" rtlCol="0" anchor="ctr"/>
          <a:lstStyle/>
          <a:p>
            <a:pPr indent="0" marL="0">
              <a:buNone/>
            </a:pPr>
            <a:r>
              <a:rPr lang="en-US" sz="1100" i="1" dirty="0">
                <a:solidFill>
                  <a:srgbClr val="2C5F7A"/>
                </a:solidFill>
                <a:latin typeface="Calibri" pitchFamily="34" charset="0"/>
                <a:ea typeface="Calibri" pitchFamily="34" charset="-122"/>
                <a:cs typeface="Calibri" pitchFamily="34" charset="-120"/>
              </a:rPr>
              <a:t>Full AWS service emulation in Docker — no cloud credentials required</a:t>
            </a:r>
            <a:endParaRPr lang="en-US" sz="1100" dirty="0"/>
          </a:p>
        </p:txBody>
      </p:sp>
      <p:sp>
        <p:nvSpPr>
          <p:cNvPr id="5" name="Shape 3"/>
          <p:cNvSpPr/>
          <p:nvPr/>
        </p:nvSpPr>
        <p:spPr>
          <a:xfrm>
            <a:off x="0" y="4892040"/>
            <a:ext cx="9144000" cy="251460"/>
          </a:xfrm>
          <a:prstGeom prst="rect">
            <a:avLst/>
          </a:prstGeom>
          <a:solidFill>
            <a:srgbClr val="065A82"/>
          </a:solidFill>
          <a:ln/>
        </p:spPr>
      </p:sp>
      <p:sp>
        <p:nvSpPr>
          <p:cNvPr id="6" name="Text 4"/>
          <p:cNvSpPr/>
          <p:nvPr/>
        </p:nvSpPr>
        <p:spPr>
          <a:xfrm>
            <a:off x="457200" y="4901184"/>
            <a:ext cx="7315200" cy="228600"/>
          </a:xfrm>
          <a:prstGeom prst="rect">
            <a:avLst/>
          </a:prstGeom>
          <a:noFill/>
          <a:ln/>
        </p:spPr>
        <p:txBody>
          <a:bodyPr wrap="square" lIns="0" tIns="0" rIns="0" bIns="0" rtlCol="0" anchor="ctr"/>
          <a:lstStyle/>
          <a:p>
            <a:pPr indent="0" marL="0">
              <a:buNone/>
            </a:pPr>
            <a:r>
              <a:rPr lang="en-US" sz="800" dirty="0">
                <a:solidFill>
                  <a:srgbClr val="B8D4E8"/>
                </a:solidFill>
                <a:latin typeface="Calibri" pitchFamily="34" charset="0"/>
                <a:ea typeface="Calibri" pitchFamily="34" charset="-122"/>
                <a:cs typeface="Calibri" pitchFamily="34" charset="-120"/>
              </a:rPr>
              <a:t>Amazon Connect Automation Testing Framework  |  Confidential</a:t>
            </a:r>
            <a:endParaRPr lang="en-US" sz="800" dirty="0"/>
          </a:p>
        </p:txBody>
      </p:sp>
      <p:sp>
        <p:nvSpPr>
          <p:cNvPr id="7" name="Shape 5"/>
          <p:cNvSpPr/>
          <p:nvPr/>
        </p:nvSpPr>
        <p:spPr>
          <a:xfrm>
            <a:off x="365760" y="804672"/>
            <a:ext cx="5029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65760" y="804672"/>
            <a:ext cx="164592" cy="822960"/>
          </a:xfrm>
          <a:prstGeom prst="rect">
            <a:avLst/>
          </a:prstGeom>
          <a:solidFill>
            <a:srgbClr val="065A82"/>
          </a:solidFill>
          <a:ln/>
        </p:spPr>
      </p:sp>
      <p:sp>
        <p:nvSpPr>
          <p:cNvPr id="9" name="Shape 7"/>
          <p:cNvSpPr/>
          <p:nvPr/>
        </p:nvSpPr>
        <p:spPr>
          <a:xfrm>
            <a:off x="621792" y="969264"/>
            <a:ext cx="493776" cy="493776"/>
          </a:xfrm>
          <a:prstGeom prst="oval">
            <a:avLst/>
          </a:prstGeom>
          <a:solidFill>
            <a:srgbClr val="065A82"/>
          </a:solidFill>
          <a:ln/>
        </p:spPr>
      </p:sp>
      <p:pic>
        <p:nvPicPr>
          <p:cNvPr id="10" name="Image 0" descr="preencoded.png">    </p:cNvPr>
          <p:cNvPicPr>
            <a:picLocks noChangeAspect="1"/>
          </p:cNvPicPr>
          <p:nvPr/>
        </p:nvPicPr>
        <p:blipFill>
          <a:blip r:embed="rId1"/>
          <a:stretch>
            <a:fillRect/>
          </a:stretch>
        </p:blipFill>
        <p:spPr>
          <a:xfrm>
            <a:off x="667512" y="1014984"/>
            <a:ext cx="402336" cy="402336"/>
          </a:xfrm>
          <a:prstGeom prst="rect">
            <a:avLst/>
          </a:prstGeom>
        </p:spPr>
      </p:pic>
      <p:sp>
        <p:nvSpPr>
          <p:cNvPr id="11" name="Text 8"/>
          <p:cNvSpPr/>
          <p:nvPr/>
        </p:nvSpPr>
        <p:spPr>
          <a:xfrm>
            <a:off x="1234440" y="868680"/>
            <a:ext cx="3977640" cy="274320"/>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1 · Spin Up LocalStack</a:t>
            </a:r>
            <a:endParaRPr lang="en-US" sz="1200" dirty="0"/>
          </a:p>
        </p:txBody>
      </p:sp>
      <p:sp>
        <p:nvSpPr>
          <p:cNvPr id="12" name="Text 9"/>
          <p:cNvSpPr/>
          <p:nvPr/>
        </p:nvSpPr>
        <p:spPr>
          <a:xfrm>
            <a:off x="1234440" y="1170432"/>
            <a:ext cx="3977640" cy="411480"/>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Testcontainers spins up LocalStack Docker image. Lambda, S3, DynamoDB emulated locally.</a:t>
            </a:r>
            <a:endParaRPr lang="en-US" sz="950" dirty="0"/>
          </a:p>
        </p:txBody>
      </p:sp>
      <p:sp>
        <p:nvSpPr>
          <p:cNvPr id="13" name="Shape 10"/>
          <p:cNvSpPr/>
          <p:nvPr/>
        </p:nvSpPr>
        <p:spPr>
          <a:xfrm>
            <a:off x="365760" y="1792224"/>
            <a:ext cx="5029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1"/>
          <p:cNvSpPr/>
          <p:nvPr/>
        </p:nvSpPr>
        <p:spPr>
          <a:xfrm>
            <a:off x="365760" y="1792224"/>
            <a:ext cx="164592" cy="822960"/>
          </a:xfrm>
          <a:prstGeom prst="rect">
            <a:avLst/>
          </a:prstGeom>
          <a:solidFill>
            <a:srgbClr val="1C7293"/>
          </a:solidFill>
          <a:ln/>
        </p:spPr>
      </p:sp>
      <p:sp>
        <p:nvSpPr>
          <p:cNvPr id="15" name="Shape 12"/>
          <p:cNvSpPr/>
          <p:nvPr/>
        </p:nvSpPr>
        <p:spPr>
          <a:xfrm>
            <a:off x="621792" y="1956816"/>
            <a:ext cx="493776" cy="493776"/>
          </a:xfrm>
          <a:prstGeom prst="oval">
            <a:avLst/>
          </a:prstGeom>
          <a:solidFill>
            <a:srgbClr val="1C7293"/>
          </a:solidFill>
          <a:ln/>
        </p:spPr>
      </p:sp>
      <p:pic>
        <p:nvPicPr>
          <p:cNvPr id="16" name="Image 1" descr="preencoded.png">    </p:cNvPr>
          <p:cNvPicPr>
            <a:picLocks noChangeAspect="1"/>
          </p:cNvPicPr>
          <p:nvPr/>
        </p:nvPicPr>
        <p:blipFill>
          <a:blip r:embed="rId2"/>
          <a:stretch>
            <a:fillRect/>
          </a:stretch>
        </p:blipFill>
        <p:spPr>
          <a:xfrm>
            <a:off x="667512" y="2002536"/>
            <a:ext cx="402336" cy="402336"/>
          </a:xfrm>
          <a:prstGeom prst="rect">
            <a:avLst/>
          </a:prstGeom>
        </p:spPr>
      </p:pic>
      <p:sp>
        <p:nvSpPr>
          <p:cNvPr id="17" name="Text 13"/>
          <p:cNvSpPr/>
          <p:nvPr/>
        </p:nvSpPr>
        <p:spPr>
          <a:xfrm>
            <a:off x="1234440" y="1856232"/>
            <a:ext cx="3977640" cy="274320"/>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2 · Deploy &amp; Configure</a:t>
            </a:r>
            <a:endParaRPr lang="en-US" sz="1200" dirty="0"/>
          </a:p>
        </p:txBody>
      </p:sp>
      <p:sp>
        <p:nvSpPr>
          <p:cNvPr id="18" name="Text 14"/>
          <p:cNvSpPr/>
          <p:nvPr/>
        </p:nvSpPr>
        <p:spPr>
          <a:xfrm>
            <a:off x="1234440" y="2157984"/>
            <a:ext cx="3977640" cy="411480"/>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ZIP-packages sample_lambda.py, creates functions, S3 buckets &amp; DynamoDB tables per test case setup block.</a:t>
            </a:r>
            <a:endParaRPr lang="en-US" sz="950" dirty="0"/>
          </a:p>
        </p:txBody>
      </p:sp>
      <p:sp>
        <p:nvSpPr>
          <p:cNvPr id="19" name="Shape 15"/>
          <p:cNvSpPr/>
          <p:nvPr/>
        </p:nvSpPr>
        <p:spPr>
          <a:xfrm>
            <a:off x="365760" y="2779776"/>
            <a:ext cx="5029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6"/>
          <p:cNvSpPr/>
          <p:nvPr/>
        </p:nvSpPr>
        <p:spPr>
          <a:xfrm>
            <a:off x="365760" y="2779776"/>
            <a:ext cx="164592" cy="822960"/>
          </a:xfrm>
          <a:prstGeom prst="rect">
            <a:avLst/>
          </a:prstGeom>
          <a:solidFill>
            <a:srgbClr val="F0A500"/>
          </a:solidFill>
          <a:ln/>
        </p:spPr>
      </p:sp>
      <p:sp>
        <p:nvSpPr>
          <p:cNvPr id="21" name="Shape 17"/>
          <p:cNvSpPr/>
          <p:nvPr/>
        </p:nvSpPr>
        <p:spPr>
          <a:xfrm>
            <a:off x="621792" y="2944368"/>
            <a:ext cx="493776" cy="493776"/>
          </a:xfrm>
          <a:prstGeom prst="oval">
            <a:avLst/>
          </a:prstGeom>
          <a:solidFill>
            <a:srgbClr val="F0A500"/>
          </a:solidFill>
          <a:ln/>
        </p:spPr>
      </p:sp>
      <p:pic>
        <p:nvPicPr>
          <p:cNvPr id="22" name="Image 2" descr="preencoded.png">    </p:cNvPr>
          <p:cNvPicPr>
            <a:picLocks noChangeAspect="1"/>
          </p:cNvPicPr>
          <p:nvPr/>
        </p:nvPicPr>
        <p:blipFill>
          <a:blip r:embed="rId3"/>
          <a:stretch>
            <a:fillRect/>
          </a:stretch>
        </p:blipFill>
        <p:spPr>
          <a:xfrm>
            <a:off x="667512" y="2990088"/>
            <a:ext cx="402336" cy="402336"/>
          </a:xfrm>
          <a:prstGeom prst="rect">
            <a:avLst/>
          </a:prstGeom>
        </p:spPr>
      </p:pic>
      <p:sp>
        <p:nvSpPr>
          <p:cNvPr id="23" name="Text 18"/>
          <p:cNvSpPr/>
          <p:nvPr/>
        </p:nvSpPr>
        <p:spPr>
          <a:xfrm>
            <a:off x="1234440" y="2843784"/>
            <a:ext cx="3977640" cy="274320"/>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3 · Invoke &amp; Validate</a:t>
            </a:r>
            <a:endParaRPr lang="en-US" sz="1200" dirty="0"/>
          </a:p>
        </p:txBody>
      </p:sp>
      <p:sp>
        <p:nvSpPr>
          <p:cNvPr id="24" name="Text 19"/>
          <p:cNvSpPr/>
          <p:nvPr/>
        </p:nvSpPr>
        <p:spPr>
          <a:xfrm>
            <a:off x="1234440" y="3145536"/>
            <a:ext cx="3977640" cy="411480"/>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Sends trigger_event payload → checks statusCode, response body, DynamoDB items, S3 objects, and FunctionError payloads.</a:t>
            </a:r>
            <a:endParaRPr lang="en-US" sz="950" dirty="0"/>
          </a:p>
        </p:txBody>
      </p:sp>
      <p:sp>
        <p:nvSpPr>
          <p:cNvPr id="25" name="Shape 20"/>
          <p:cNvSpPr/>
          <p:nvPr/>
        </p:nvSpPr>
        <p:spPr>
          <a:xfrm>
            <a:off x="365760" y="3767328"/>
            <a:ext cx="5029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1"/>
          <p:cNvSpPr/>
          <p:nvPr/>
        </p:nvSpPr>
        <p:spPr>
          <a:xfrm>
            <a:off x="365760" y="3767328"/>
            <a:ext cx="164592" cy="822960"/>
          </a:xfrm>
          <a:prstGeom prst="rect">
            <a:avLst/>
          </a:prstGeom>
          <a:solidFill>
            <a:srgbClr val="02C39A"/>
          </a:solidFill>
          <a:ln/>
        </p:spPr>
      </p:sp>
      <p:sp>
        <p:nvSpPr>
          <p:cNvPr id="27" name="Shape 22"/>
          <p:cNvSpPr/>
          <p:nvPr/>
        </p:nvSpPr>
        <p:spPr>
          <a:xfrm>
            <a:off x="621792" y="3931920"/>
            <a:ext cx="493776" cy="493776"/>
          </a:xfrm>
          <a:prstGeom prst="oval">
            <a:avLst/>
          </a:prstGeom>
          <a:solidFill>
            <a:srgbClr val="02C39A"/>
          </a:solidFill>
          <a:ln/>
        </p:spPr>
      </p:sp>
      <p:pic>
        <p:nvPicPr>
          <p:cNvPr id="28" name="Image 3" descr="preencoded.png">    </p:cNvPr>
          <p:cNvPicPr>
            <a:picLocks noChangeAspect="1"/>
          </p:cNvPicPr>
          <p:nvPr/>
        </p:nvPicPr>
        <p:blipFill>
          <a:blip r:embed="rId4"/>
          <a:stretch>
            <a:fillRect/>
          </a:stretch>
        </p:blipFill>
        <p:spPr>
          <a:xfrm>
            <a:off x="667512" y="3977640"/>
            <a:ext cx="402336" cy="402336"/>
          </a:xfrm>
          <a:prstGeom prst="rect">
            <a:avLst/>
          </a:prstGeom>
        </p:spPr>
      </p:pic>
      <p:sp>
        <p:nvSpPr>
          <p:cNvPr id="29" name="Text 23"/>
          <p:cNvSpPr/>
          <p:nvPr/>
        </p:nvSpPr>
        <p:spPr>
          <a:xfrm>
            <a:off x="1234440" y="3831336"/>
            <a:ext cx="3977640" cy="274320"/>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4 · HTML + JSON Report</a:t>
            </a:r>
            <a:endParaRPr lang="en-US" sz="1200" dirty="0"/>
          </a:p>
        </p:txBody>
      </p:sp>
      <p:sp>
        <p:nvSpPr>
          <p:cNvPr id="30" name="Text 24"/>
          <p:cNvSpPr/>
          <p:nvPr/>
        </p:nvSpPr>
        <p:spPr>
          <a:xfrm>
            <a:off x="1234440" y="4133088"/>
            <a:ext cx="3977640" cy="411480"/>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pytest-html generates a rich visual report; conftest.py emits a structured JSON result for CI artefact upload.</a:t>
            </a:r>
            <a:endParaRPr lang="en-US" sz="950" dirty="0"/>
          </a:p>
        </p:txBody>
      </p:sp>
      <p:sp>
        <p:nvSpPr>
          <p:cNvPr id="31" name="Shape 25"/>
          <p:cNvSpPr/>
          <p:nvPr/>
        </p:nvSpPr>
        <p:spPr>
          <a:xfrm>
            <a:off x="5577840" y="804672"/>
            <a:ext cx="3200400" cy="82296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32" name="Text 26"/>
          <p:cNvSpPr/>
          <p:nvPr/>
        </p:nvSpPr>
        <p:spPr>
          <a:xfrm>
            <a:off x="5577840" y="850392"/>
            <a:ext cx="3200400" cy="420624"/>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TC-001</a:t>
            </a:r>
            <a:endParaRPr lang="en-US" sz="2800" dirty="0"/>
          </a:p>
        </p:txBody>
      </p:sp>
      <p:sp>
        <p:nvSpPr>
          <p:cNvPr id="33" name="Text 27"/>
          <p:cNvSpPr/>
          <p:nvPr/>
        </p:nvSpPr>
        <p:spPr>
          <a:xfrm>
            <a:off x="5577840" y="1280160"/>
            <a:ext cx="3200400" cy="1920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S3 → DynamoDB</a:t>
            </a:r>
            <a:endParaRPr lang="en-US" sz="1000" dirty="0"/>
          </a:p>
        </p:txBody>
      </p:sp>
      <p:sp>
        <p:nvSpPr>
          <p:cNvPr id="34" name="Text 28"/>
          <p:cNvSpPr/>
          <p:nvPr/>
        </p:nvSpPr>
        <p:spPr>
          <a:xfrm>
            <a:off x="5577840" y="1463040"/>
            <a:ext cx="3200400" cy="146304"/>
          </a:xfrm>
          <a:prstGeom prst="rect">
            <a:avLst/>
          </a:prstGeom>
          <a:noFill/>
          <a:ln/>
        </p:spPr>
        <p:txBody>
          <a:bodyPr wrap="square" lIns="0" tIns="0" rIns="0" bIns="0" rtlCol="0" anchor="ctr"/>
          <a:lstStyle/>
          <a:p>
            <a:pPr algn="ctr" indent="0" marL="0">
              <a:buNone/>
            </a:pPr>
            <a:r>
              <a:rPr lang="en-US" sz="800" i="1" dirty="0">
                <a:solidFill>
                  <a:srgbClr val="B8D4E8"/>
                </a:solidFill>
                <a:latin typeface="Calibri" pitchFamily="34" charset="0"/>
                <a:ea typeface="Calibri" pitchFamily="34" charset="-122"/>
                <a:cs typeface="Calibri" pitchFamily="34" charset="-120"/>
              </a:rPr>
              <a:t>event trigger</a:t>
            </a:r>
            <a:endParaRPr lang="en-US" sz="800" dirty="0"/>
          </a:p>
        </p:txBody>
      </p:sp>
      <p:sp>
        <p:nvSpPr>
          <p:cNvPr id="35" name="Shape 29"/>
          <p:cNvSpPr/>
          <p:nvPr/>
        </p:nvSpPr>
        <p:spPr>
          <a:xfrm>
            <a:off x="5577840" y="1792224"/>
            <a:ext cx="3200400" cy="822960"/>
          </a:xfrm>
          <a:prstGeom prst="rect">
            <a:avLst/>
          </a:prstGeom>
          <a:solidFill>
            <a:srgbClr val="1C7293"/>
          </a:solidFill>
          <a:ln/>
          <a:effectLst>
            <a:outerShdw sx="100000" sy="100000" kx="0" ky="0" algn="bl" rotWithShape="0" blurRad="101600" dist="38100" dir="8100000">
              <a:srgbClr val="000000">
                <a:alpha val="12000"/>
              </a:srgbClr>
            </a:outerShdw>
          </a:effectLst>
        </p:spPr>
      </p:sp>
      <p:sp>
        <p:nvSpPr>
          <p:cNvPr id="36" name="Text 30"/>
          <p:cNvSpPr/>
          <p:nvPr/>
        </p:nvSpPr>
        <p:spPr>
          <a:xfrm>
            <a:off x="5577840" y="1837944"/>
            <a:ext cx="3200400" cy="420624"/>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TC-002</a:t>
            </a:r>
            <a:endParaRPr lang="en-US" sz="2800" dirty="0"/>
          </a:p>
        </p:txBody>
      </p:sp>
      <p:sp>
        <p:nvSpPr>
          <p:cNvPr id="37" name="Text 31"/>
          <p:cNvSpPr/>
          <p:nvPr/>
        </p:nvSpPr>
        <p:spPr>
          <a:xfrm>
            <a:off x="5577840" y="2267712"/>
            <a:ext cx="3200400" cy="1920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DynamoDB streams</a:t>
            </a:r>
            <a:endParaRPr lang="en-US" sz="1000" dirty="0"/>
          </a:p>
        </p:txBody>
      </p:sp>
      <p:sp>
        <p:nvSpPr>
          <p:cNvPr id="38" name="Text 32"/>
          <p:cNvSpPr/>
          <p:nvPr/>
        </p:nvSpPr>
        <p:spPr>
          <a:xfrm>
            <a:off x="5577840" y="2450592"/>
            <a:ext cx="3200400" cy="146304"/>
          </a:xfrm>
          <a:prstGeom prst="rect">
            <a:avLst/>
          </a:prstGeom>
          <a:noFill/>
          <a:ln/>
        </p:spPr>
        <p:txBody>
          <a:bodyPr wrap="square" lIns="0" tIns="0" rIns="0" bIns="0" rtlCol="0" anchor="ctr"/>
          <a:lstStyle/>
          <a:p>
            <a:pPr algn="ctr" indent="0" marL="0">
              <a:buNone/>
            </a:pPr>
            <a:r>
              <a:rPr lang="en-US" sz="800" i="1" dirty="0">
                <a:solidFill>
                  <a:srgbClr val="B8D4E8"/>
                </a:solidFill>
                <a:latin typeface="Calibri" pitchFamily="34" charset="0"/>
                <a:ea typeface="Calibri" pitchFamily="34" charset="-122"/>
                <a:cs typeface="Calibri" pitchFamily="34" charset="-120"/>
              </a:rPr>
              <a:t>error path</a:t>
            </a:r>
            <a:endParaRPr lang="en-US" sz="800" dirty="0"/>
          </a:p>
        </p:txBody>
      </p:sp>
      <p:sp>
        <p:nvSpPr>
          <p:cNvPr id="39" name="Shape 33"/>
          <p:cNvSpPr/>
          <p:nvPr/>
        </p:nvSpPr>
        <p:spPr>
          <a:xfrm>
            <a:off x="5577840" y="2779776"/>
            <a:ext cx="3200400" cy="82296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40" name="Text 34"/>
          <p:cNvSpPr/>
          <p:nvPr/>
        </p:nvSpPr>
        <p:spPr>
          <a:xfrm>
            <a:off x="5577840" y="2825496"/>
            <a:ext cx="3200400" cy="420624"/>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TC-003</a:t>
            </a:r>
            <a:endParaRPr lang="en-US" sz="2800" dirty="0"/>
          </a:p>
        </p:txBody>
      </p:sp>
      <p:sp>
        <p:nvSpPr>
          <p:cNvPr id="41" name="Text 35"/>
          <p:cNvSpPr/>
          <p:nvPr/>
        </p:nvSpPr>
        <p:spPr>
          <a:xfrm>
            <a:off x="5577840" y="3255264"/>
            <a:ext cx="3200400" cy="1920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Async invocation</a:t>
            </a:r>
            <a:endParaRPr lang="en-US" sz="1000" dirty="0"/>
          </a:p>
        </p:txBody>
      </p:sp>
      <p:sp>
        <p:nvSpPr>
          <p:cNvPr id="42" name="Text 36"/>
          <p:cNvSpPr/>
          <p:nvPr/>
        </p:nvSpPr>
        <p:spPr>
          <a:xfrm>
            <a:off x="5577840" y="3438144"/>
            <a:ext cx="3200400" cy="146304"/>
          </a:xfrm>
          <a:prstGeom prst="rect">
            <a:avLst/>
          </a:prstGeom>
          <a:noFill/>
          <a:ln/>
        </p:spPr>
        <p:txBody>
          <a:bodyPr wrap="square" lIns="0" tIns="0" rIns="0" bIns="0" rtlCol="0" anchor="ctr"/>
          <a:lstStyle/>
          <a:p>
            <a:pPr algn="ctr" indent="0" marL="0">
              <a:buNone/>
            </a:pPr>
            <a:r>
              <a:rPr lang="en-US" sz="800" i="1" dirty="0">
                <a:solidFill>
                  <a:srgbClr val="B8D4E8"/>
                </a:solidFill>
                <a:latin typeface="Calibri" pitchFamily="34" charset="0"/>
                <a:ea typeface="Calibri" pitchFamily="34" charset="-122"/>
                <a:cs typeface="Calibri" pitchFamily="34" charset="-120"/>
              </a:rPr>
              <a:t>side-effect check</a:t>
            </a:r>
            <a:endParaRPr lang="en-US" sz="800" dirty="0"/>
          </a:p>
        </p:txBody>
      </p:sp>
      <p:sp>
        <p:nvSpPr>
          <p:cNvPr id="43" name="Shape 37"/>
          <p:cNvSpPr/>
          <p:nvPr/>
        </p:nvSpPr>
        <p:spPr>
          <a:xfrm>
            <a:off x="5577840" y="3767328"/>
            <a:ext cx="3200400" cy="822960"/>
          </a:xfrm>
          <a:prstGeom prst="rect">
            <a:avLst/>
          </a:prstGeom>
          <a:solidFill>
            <a:srgbClr val="1C7293"/>
          </a:solidFill>
          <a:ln/>
          <a:effectLst>
            <a:outerShdw sx="100000" sy="100000" kx="0" ky="0" algn="bl" rotWithShape="0" blurRad="101600" dist="38100" dir="8100000">
              <a:srgbClr val="000000">
                <a:alpha val="12000"/>
              </a:srgbClr>
            </a:outerShdw>
          </a:effectLst>
        </p:spPr>
      </p:sp>
      <p:sp>
        <p:nvSpPr>
          <p:cNvPr id="44" name="Text 38"/>
          <p:cNvSpPr/>
          <p:nvPr/>
        </p:nvSpPr>
        <p:spPr>
          <a:xfrm>
            <a:off x="5577840" y="3813048"/>
            <a:ext cx="3200400" cy="420624"/>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a:t>
            </a:r>
            <a:endParaRPr lang="en-US" sz="2800" dirty="0"/>
          </a:p>
        </p:txBody>
      </p:sp>
      <p:sp>
        <p:nvSpPr>
          <p:cNvPr id="45" name="Text 39"/>
          <p:cNvSpPr/>
          <p:nvPr/>
        </p:nvSpPr>
        <p:spPr>
          <a:xfrm>
            <a:off x="5577840" y="4242816"/>
            <a:ext cx="3200400" cy="1920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Cloud API calls</a:t>
            </a:r>
            <a:endParaRPr lang="en-US" sz="1000" dirty="0"/>
          </a:p>
        </p:txBody>
      </p:sp>
      <p:sp>
        <p:nvSpPr>
          <p:cNvPr id="46" name="Text 40"/>
          <p:cNvSpPr/>
          <p:nvPr/>
        </p:nvSpPr>
        <p:spPr>
          <a:xfrm>
            <a:off x="5577840" y="4425696"/>
            <a:ext cx="3200400" cy="146304"/>
          </a:xfrm>
          <a:prstGeom prst="rect">
            <a:avLst/>
          </a:prstGeom>
          <a:noFill/>
          <a:ln/>
        </p:spPr>
        <p:txBody>
          <a:bodyPr wrap="square" lIns="0" tIns="0" rIns="0" bIns="0" rtlCol="0" anchor="ctr"/>
          <a:lstStyle/>
          <a:p>
            <a:pPr algn="ctr" indent="0" marL="0">
              <a:buNone/>
            </a:pPr>
            <a:r>
              <a:rPr lang="en-US" sz="800" i="1" dirty="0">
                <a:solidFill>
                  <a:srgbClr val="B8D4E8"/>
                </a:solidFill>
                <a:latin typeface="Calibri" pitchFamily="34" charset="0"/>
                <a:ea typeface="Calibri" pitchFamily="34" charset="-122"/>
                <a:cs typeface="Calibri" pitchFamily="34" charset="-120"/>
              </a:rPr>
              <a:t>in local mode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5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65A82"/>
          </a:solidFill>
          <a:ln/>
        </p:spPr>
      </p:sp>
      <p:sp>
        <p:nvSpPr>
          <p:cNvPr id="3" name="Text 1"/>
          <p:cNvSpPr/>
          <p:nvPr/>
        </p:nvSpPr>
        <p:spPr>
          <a:xfrm>
            <a:off x="411480" y="64008"/>
            <a:ext cx="77724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Lex Bot NLU Testing</a:t>
            </a:r>
            <a:endParaRPr lang="en-US" sz="2200" dirty="0"/>
          </a:p>
        </p:txBody>
      </p:sp>
      <p:sp>
        <p:nvSpPr>
          <p:cNvPr id="4" name="Text 2"/>
          <p:cNvSpPr/>
          <p:nvPr/>
        </p:nvSpPr>
        <p:spPr>
          <a:xfrm>
            <a:off x="411480" y="530352"/>
            <a:ext cx="8321040" cy="292608"/>
          </a:xfrm>
          <a:prstGeom prst="rect">
            <a:avLst/>
          </a:prstGeom>
          <a:noFill/>
          <a:ln/>
        </p:spPr>
        <p:txBody>
          <a:bodyPr wrap="square" lIns="0" tIns="0" rIns="0" bIns="0" rtlCol="0" anchor="ctr"/>
          <a:lstStyle/>
          <a:p>
            <a:pPr indent="0" marL="0">
              <a:buNone/>
            </a:pPr>
            <a:r>
              <a:rPr lang="en-US" sz="1100" i="1" dirty="0">
                <a:solidFill>
                  <a:srgbClr val="2C5F7A"/>
                </a:solidFill>
                <a:latin typeface="Calibri" pitchFamily="34" charset="0"/>
                <a:ea typeface="Calibri" pitchFamily="34" charset="-122"/>
                <a:cs typeface="Calibri" pitchFamily="34" charset="-120"/>
              </a:rPr>
              <a:t>Automated intent recognition, slot filling, and multi-turn conversation validation</a:t>
            </a:r>
            <a:endParaRPr lang="en-US" sz="1100" dirty="0"/>
          </a:p>
        </p:txBody>
      </p:sp>
      <p:sp>
        <p:nvSpPr>
          <p:cNvPr id="5" name="Shape 3"/>
          <p:cNvSpPr/>
          <p:nvPr/>
        </p:nvSpPr>
        <p:spPr>
          <a:xfrm>
            <a:off x="0" y="4892040"/>
            <a:ext cx="9144000" cy="251460"/>
          </a:xfrm>
          <a:prstGeom prst="rect">
            <a:avLst/>
          </a:prstGeom>
          <a:solidFill>
            <a:srgbClr val="065A82"/>
          </a:solidFill>
          <a:ln/>
        </p:spPr>
      </p:sp>
      <p:sp>
        <p:nvSpPr>
          <p:cNvPr id="6" name="Text 4"/>
          <p:cNvSpPr/>
          <p:nvPr/>
        </p:nvSpPr>
        <p:spPr>
          <a:xfrm>
            <a:off x="457200" y="4901184"/>
            <a:ext cx="7315200" cy="228600"/>
          </a:xfrm>
          <a:prstGeom prst="rect">
            <a:avLst/>
          </a:prstGeom>
          <a:noFill/>
          <a:ln/>
        </p:spPr>
        <p:txBody>
          <a:bodyPr wrap="square" lIns="0" tIns="0" rIns="0" bIns="0" rtlCol="0" anchor="ctr"/>
          <a:lstStyle/>
          <a:p>
            <a:pPr indent="0" marL="0">
              <a:buNone/>
            </a:pPr>
            <a:r>
              <a:rPr lang="en-US" sz="800" dirty="0">
                <a:solidFill>
                  <a:srgbClr val="B8D4E8"/>
                </a:solidFill>
                <a:latin typeface="Calibri" pitchFamily="34" charset="0"/>
                <a:ea typeface="Calibri" pitchFamily="34" charset="-122"/>
                <a:cs typeface="Calibri" pitchFamily="34" charset="-120"/>
              </a:rPr>
              <a:t>Amazon Connect Automation Testing Framework  |  Confidential</a:t>
            </a:r>
            <a:endParaRPr lang="en-US" sz="800" dirty="0"/>
          </a:p>
        </p:txBody>
      </p:sp>
      <p:sp>
        <p:nvSpPr>
          <p:cNvPr id="7" name="Shape 5"/>
          <p:cNvSpPr/>
          <p:nvPr/>
        </p:nvSpPr>
        <p:spPr>
          <a:xfrm>
            <a:off x="365760" y="804672"/>
            <a:ext cx="512064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65760" y="804672"/>
            <a:ext cx="164592" cy="841248"/>
          </a:xfrm>
          <a:prstGeom prst="rect">
            <a:avLst/>
          </a:prstGeom>
          <a:solidFill>
            <a:srgbClr val="065A82"/>
          </a:solidFill>
          <a:ln/>
        </p:spPr>
      </p:sp>
      <p:sp>
        <p:nvSpPr>
          <p:cNvPr id="9" name="Shape 7"/>
          <p:cNvSpPr/>
          <p:nvPr/>
        </p:nvSpPr>
        <p:spPr>
          <a:xfrm>
            <a:off x="594360" y="978408"/>
            <a:ext cx="493776" cy="493776"/>
          </a:xfrm>
          <a:prstGeom prst="oval">
            <a:avLst/>
          </a:prstGeom>
          <a:solidFill>
            <a:srgbClr val="065A82"/>
          </a:solidFill>
          <a:ln/>
        </p:spPr>
      </p:sp>
      <p:pic>
        <p:nvPicPr>
          <p:cNvPr id="10" name="Image 0" descr="preencoded.png">    </p:cNvPr>
          <p:cNvPicPr>
            <a:picLocks noChangeAspect="1"/>
          </p:cNvPicPr>
          <p:nvPr/>
        </p:nvPicPr>
        <p:blipFill>
          <a:blip r:embed="rId1"/>
          <a:stretch>
            <a:fillRect/>
          </a:stretch>
        </p:blipFill>
        <p:spPr>
          <a:xfrm>
            <a:off x="640080" y="1024128"/>
            <a:ext cx="402336" cy="402336"/>
          </a:xfrm>
          <a:prstGeom prst="rect">
            <a:avLst/>
          </a:prstGeom>
        </p:spPr>
      </p:pic>
      <p:sp>
        <p:nvSpPr>
          <p:cNvPr id="11" name="Text 8"/>
          <p:cNvSpPr/>
          <p:nvPr/>
        </p:nvSpPr>
        <p:spPr>
          <a:xfrm>
            <a:off x="1143000" y="896112"/>
            <a:ext cx="4206240" cy="274320"/>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Single-turn tests</a:t>
            </a:r>
            <a:endParaRPr lang="en-US" sz="1200" dirty="0"/>
          </a:p>
        </p:txBody>
      </p:sp>
      <p:sp>
        <p:nvSpPr>
          <p:cNvPr id="12" name="Text 9"/>
          <p:cNvSpPr/>
          <p:nvPr/>
        </p:nvSpPr>
        <p:spPr>
          <a:xfrm>
            <a:off x="1143000" y="1207008"/>
            <a:ext cx="420624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Validates intent, slot values, and response messages for a single user utterance.</a:t>
            </a:r>
            <a:endParaRPr lang="en-US" sz="950" dirty="0"/>
          </a:p>
        </p:txBody>
      </p:sp>
      <p:sp>
        <p:nvSpPr>
          <p:cNvPr id="13" name="Shape 10"/>
          <p:cNvSpPr/>
          <p:nvPr/>
        </p:nvSpPr>
        <p:spPr>
          <a:xfrm>
            <a:off x="365760" y="1810512"/>
            <a:ext cx="512064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1"/>
          <p:cNvSpPr/>
          <p:nvPr/>
        </p:nvSpPr>
        <p:spPr>
          <a:xfrm>
            <a:off x="365760" y="1810512"/>
            <a:ext cx="164592" cy="841248"/>
          </a:xfrm>
          <a:prstGeom prst="rect">
            <a:avLst/>
          </a:prstGeom>
          <a:solidFill>
            <a:srgbClr val="1C7293"/>
          </a:solidFill>
          <a:ln/>
        </p:spPr>
      </p:sp>
      <p:sp>
        <p:nvSpPr>
          <p:cNvPr id="15" name="Shape 12"/>
          <p:cNvSpPr/>
          <p:nvPr/>
        </p:nvSpPr>
        <p:spPr>
          <a:xfrm>
            <a:off x="594360" y="1984248"/>
            <a:ext cx="493776" cy="493776"/>
          </a:xfrm>
          <a:prstGeom prst="oval">
            <a:avLst/>
          </a:prstGeom>
          <a:solidFill>
            <a:srgbClr val="1C7293"/>
          </a:solidFill>
          <a:ln/>
        </p:spPr>
      </p:sp>
      <p:pic>
        <p:nvPicPr>
          <p:cNvPr id="16" name="Image 1" descr="preencoded.png">    </p:cNvPr>
          <p:cNvPicPr>
            <a:picLocks noChangeAspect="1"/>
          </p:cNvPicPr>
          <p:nvPr/>
        </p:nvPicPr>
        <p:blipFill>
          <a:blip r:embed="rId2"/>
          <a:stretch>
            <a:fillRect/>
          </a:stretch>
        </p:blipFill>
        <p:spPr>
          <a:xfrm>
            <a:off x="640080" y="2029968"/>
            <a:ext cx="402336" cy="402336"/>
          </a:xfrm>
          <a:prstGeom prst="rect">
            <a:avLst/>
          </a:prstGeom>
        </p:spPr>
      </p:pic>
      <p:sp>
        <p:nvSpPr>
          <p:cNvPr id="17" name="Text 13"/>
          <p:cNvSpPr/>
          <p:nvPr/>
        </p:nvSpPr>
        <p:spPr>
          <a:xfrm>
            <a:off x="1143000" y="1901952"/>
            <a:ext cx="4206240" cy="274320"/>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Multi-turn conversations</a:t>
            </a:r>
            <a:endParaRPr lang="en-US" sz="1200" dirty="0"/>
          </a:p>
        </p:txBody>
      </p:sp>
      <p:sp>
        <p:nvSpPr>
          <p:cNvPr id="18" name="Text 14"/>
          <p:cNvSpPr/>
          <p:nvPr/>
        </p:nvSpPr>
        <p:spPr>
          <a:xfrm>
            <a:off x="1143000" y="2212848"/>
            <a:ext cx="420624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Full dialog flows: ElicitSlot → ConfirmIntent → Fulfilled — tested end-to-end in sequence.</a:t>
            </a:r>
            <a:endParaRPr lang="en-US" sz="950" dirty="0"/>
          </a:p>
        </p:txBody>
      </p:sp>
      <p:sp>
        <p:nvSpPr>
          <p:cNvPr id="19" name="Shape 15"/>
          <p:cNvSpPr/>
          <p:nvPr/>
        </p:nvSpPr>
        <p:spPr>
          <a:xfrm>
            <a:off x="365760" y="2816352"/>
            <a:ext cx="512064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6"/>
          <p:cNvSpPr/>
          <p:nvPr/>
        </p:nvSpPr>
        <p:spPr>
          <a:xfrm>
            <a:off x="365760" y="2816352"/>
            <a:ext cx="164592" cy="841248"/>
          </a:xfrm>
          <a:prstGeom prst="rect">
            <a:avLst/>
          </a:prstGeom>
          <a:solidFill>
            <a:srgbClr val="02C39A"/>
          </a:solidFill>
          <a:ln/>
        </p:spPr>
      </p:sp>
      <p:sp>
        <p:nvSpPr>
          <p:cNvPr id="21" name="Shape 17"/>
          <p:cNvSpPr/>
          <p:nvPr/>
        </p:nvSpPr>
        <p:spPr>
          <a:xfrm>
            <a:off x="594360" y="2990088"/>
            <a:ext cx="493776" cy="493776"/>
          </a:xfrm>
          <a:prstGeom prst="oval">
            <a:avLst/>
          </a:prstGeom>
          <a:solidFill>
            <a:srgbClr val="02C39A"/>
          </a:solidFill>
          <a:ln/>
        </p:spPr>
      </p:sp>
      <p:pic>
        <p:nvPicPr>
          <p:cNvPr id="22" name="Image 2" descr="preencoded.png">    </p:cNvPr>
          <p:cNvPicPr>
            <a:picLocks noChangeAspect="1"/>
          </p:cNvPicPr>
          <p:nvPr/>
        </p:nvPicPr>
        <p:blipFill>
          <a:blip r:embed="rId3"/>
          <a:stretch>
            <a:fillRect/>
          </a:stretch>
        </p:blipFill>
        <p:spPr>
          <a:xfrm>
            <a:off x="640080" y="3035808"/>
            <a:ext cx="402336" cy="402336"/>
          </a:xfrm>
          <a:prstGeom prst="rect">
            <a:avLst/>
          </a:prstGeom>
        </p:spPr>
      </p:pic>
      <p:sp>
        <p:nvSpPr>
          <p:cNvPr id="23" name="Text 18"/>
          <p:cNvSpPr/>
          <p:nvPr/>
        </p:nvSpPr>
        <p:spPr>
          <a:xfrm>
            <a:off x="1143000" y="2907792"/>
            <a:ext cx="4206240" cy="274320"/>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Fallback intent testing</a:t>
            </a:r>
            <a:endParaRPr lang="en-US" sz="1200" dirty="0"/>
          </a:p>
        </p:txBody>
      </p:sp>
      <p:sp>
        <p:nvSpPr>
          <p:cNvPr id="24" name="Text 19"/>
          <p:cNvSpPr/>
          <p:nvPr/>
        </p:nvSpPr>
        <p:spPr>
          <a:xfrm>
            <a:off x="1143000" y="3218688"/>
            <a:ext cx="420624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Deliberately sends unrecognised input; validates FallbackIntent is triggered correctly.</a:t>
            </a:r>
            <a:endParaRPr lang="en-US" sz="950" dirty="0"/>
          </a:p>
        </p:txBody>
      </p:sp>
      <p:sp>
        <p:nvSpPr>
          <p:cNvPr id="25" name="Shape 20"/>
          <p:cNvSpPr/>
          <p:nvPr/>
        </p:nvSpPr>
        <p:spPr>
          <a:xfrm>
            <a:off x="365760" y="3822192"/>
            <a:ext cx="512064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1"/>
          <p:cNvSpPr/>
          <p:nvPr/>
        </p:nvSpPr>
        <p:spPr>
          <a:xfrm>
            <a:off x="365760" y="3822192"/>
            <a:ext cx="164592" cy="841248"/>
          </a:xfrm>
          <a:prstGeom prst="rect">
            <a:avLst/>
          </a:prstGeom>
          <a:solidFill>
            <a:srgbClr val="F0A500"/>
          </a:solidFill>
          <a:ln/>
        </p:spPr>
      </p:sp>
      <p:sp>
        <p:nvSpPr>
          <p:cNvPr id="27" name="Shape 22"/>
          <p:cNvSpPr/>
          <p:nvPr/>
        </p:nvSpPr>
        <p:spPr>
          <a:xfrm>
            <a:off x="594360" y="3995928"/>
            <a:ext cx="493776" cy="493776"/>
          </a:xfrm>
          <a:prstGeom prst="oval">
            <a:avLst/>
          </a:prstGeom>
          <a:solidFill>
            <a:srgbClr val="F0A500"/>
          </a:solidFill>
          <a:ln/>
        </p:spPr>
      </p:sp>
      <p:pic>
        <p:nvPicPr>
          <p:cNvPr id="28" name="Image 3" descr="preencoded.png">    </p:cNvPr>
          <p:cNvPicPr>
            <a:picLocks noChangeAspect="1"/>
          </p:cNvPicPr>
          <p:nvPr/>
        </p:nvPicPr>
        <p:blipFill>
          <a:blip r:embed="rId4"/>
          <a:stretch>
            <a:fillRect/>
          </a:stretch>
        </p:blipFill>
        <p:spPr>
          <a:xfrm>
            <a:off x="640080" y="4041648"/>
            <a:ext cx="402336" cy="402336"/>
          </a:xfrm>
          <a:prstGeom prst="rect">
            <a:avLst/>
          </a:prstGeom>
        </p:spPr>
      </p:pic>
      <p:sp>
        <p:nvSpPr>
          <p:cNvPr id="29" name="Text 23"/>
          <p:cNvSpPr/>
          <p:nvPr/>
        </p:nvSpPr>
        <p:spPr>
          <a:xfrm>
            <a:off x="1143000" y="3913632"/>
            <a:ext cx="4206240" cy="274320"/>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Session attribute injection</a:t>
            </a:r>
            <a:endParaRPr lang="en-US" sz="1200" dirty="0"/>
          </a:p>
        </p:txBody>
      </p:sp>
      <p:sp>
        <p:nvSpPr>
          <p:cNvPr id="30" name="Text 24"/>
          <p:cNvSpPr/>
          <p:nvPr/>
        </p:nvSpPr>
        <p:spPr>
          <a:xfrm>
            <a:off x="1143000" y="4224528"/>
            <a:ext cx="4206240" cy="402336"/>
          </a:xfrm>
          <a:prstGeom prst="rect">
            <a:avLst/>
          </a:prstGeom>
          <a:noFill/>
          <a:ln/>
        </p:spPr>
        <p:txBody>
          <a:bodyPr wrap="square" lIns="0" tIns="0" rIns="0" bIns="0" rtlCol="0" anchor="ctr"/>
          <a:lstStyle/>
          <a:p>
            <a:pPr indent="0" marL="0">
              <a:lnSpc>
                <a:spcPct val="125000"/>
              </a:lnSpc>
              <a:buNone/>
            </a:pPr>
            <a:r>
              <a:rPr lang="en-US" sz="950" dirty="0">
                <a:solidFill>
                  <a:srgbClr val="2C5F7A"/>
                </a:solidFill>
                <a:latin typeface="Calibri" pitchFamily="34" charset="0"/>
                <a:ea typeface="Calibri" pitchFamily="34" charset="-122"/>
                <a:cs typeface="Calibri" pitchFamily="34" charset="-120"/>
              </a:rPr>
              <a:t>Pre-injects session attributes at test start; validates them at every turn of the conversation.</a:t>
            </a:r>
            <a:endParaRPr lang="en-US" sz="950" dirty="0"/>
          </a:p>
        </p:txBody>
      </p:sp>
      <p:sp>
        <p:nvSpPr>
          <p:cNvPr id="31" name="Shape 25"/>
          <p:cNvSpPr/>
          <p:nvPr/>
        </p:nvSpPr>
        <p:spPr>
          <a:xfrm>
            <a:off x="5623560" y="758952"/>
            <a:ext cx="3154680" cy="347472"/>
          </a:xfrm>
          <a:prstGeom prst="rect">
            <a:avLst/>
          </a:prstGeom>
          <a:solidFill>
            <a:srgbClr val="065A82"/>
          </a:solidFill>
          <a:ln/>
        </p:spPr>
      </p:sp>
      <p:sp>
        <p:nvSpPr>
          <p:cNvPr id="32" name="Text 26"/>
          <p:cNvSpPr/>
          <p:nvPr/>
        </p:nvSpPr>
        <p:spPr>
          <a:xfrm>
            <a:off x="5715000" y="777240"/>
            <a:ext cx="29718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Dialog States Covered</a:t>
            </a:r>
            <a:endParaRPr lang="en-US" sz="1100" dirty="0"/>
          </a:p>
        </p:txBody>
      </p:sp>
      <p:sp>
        <p:nvSpPr>
          <p:cNvPr id="33" name="Shape 27"/>
          <p:cNvSpPr/>
          <p:nvPr/>
        </p:nvSpPr>
        <p:spPr>
          <a:xfrm>
            <a:off x="5623560" y="1106424"/>
            <a:ext cx="3154680" cy="305409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4" name="Shape 28"/>
          <p:cNvSpPr/>
          <p:nvPr/>
        </p:nvSpPr>
        <p:spPr>
          <a:xfrm>
            <a:off x="5623560" y="1170432"/>
            <a:ext cx="3154680" cy="493776"/>
          </a:xfrm>
          <a:prstGeom prst="rect">
            <a:avLst/>
          </a:prstGeom>
          <a:solidFill>
            <a:srgbClr val="D0EEF5"/>
          </a:solidFill>
          <a:ln/>
        </p:spPr>
      </p:sp>
      <p:sp>
        <p:nvSpPr>
          <p:cNvPr id="35" name="Text 29"/>
          <p:cNvSpPr/>
          <p:nvPr/>
        </p:nvSpPr>
        <p:spPr>
          <a:xfrm>
            <a:off x="5715000" y="1261872"/>
            <a:ext cx="1463040" cy="274320"/>
          </a:xfrm>
          <a:prstGeom prst="rect">
            <a:avLst/>
          </a:prstGeom>
          <a:noFill/>
          <a:ln/>
        </p:spPr>
        <p:txBody>
          <a:bodyPr wrap="square" lIns="0" tIns="0" rIns="0" bIns="0" rtlCol="0" anchor="ctr"/>
          <a:lstStyle/>
          <a:p>
            <a:pPr indent="0" marL="0">
              <a:buNone/>
            </a:pPr>
            <a:r>
              <a:rPr lang="en-US" sz="900" b="1" dirty="0">
                <a:solidFill>
                  <a:srgbClr val="065A82"/>
                </a:solidFill>
                <a:latin typeface="Consolas" pitchFamily="34" charset="0"/>
                <a:ea typeface="Consolas" pitchFamily="34" charset="-122"/>
                <a:cs typeface="Consolas" pitchFamily="34" charset="-120"/>
              </a:rPr>
              <a:t>ElicitSlot</a:t>
            </a:r>
            <a:endParaRPr lang="en-US" sz="900" dirty="0"/>
          </a:p>
        </p:txBody>
      </p:sp>
      <p:sp>
        <p:nvSpPr>
          <p:cNvPr id="36" name="Text 30"/>
          <p:cNvSpPr/>
          <p:nvPr/>
        </p:nvSpPr>
        <p:spPr>
          <a:xfrm>
            <a:off x="7223760" y="1261872"/>
            <a:ext cx="1463040" cy="274320"/>
          </a:xfrm>
          <a:prstGeom prst="rect">
            <a:avLst/>
          </a:prstGeom>
          <a:noFill/>
          <a:ln/>
        </p:spPr>
        <p:txBody>
          <a:bodyPr wrap="square" lIns="0" tIns="0" rIns="0" bIns="0" rtlCol="0" anchor="ctr"/>
          <a:lstStyle/>
          <a:p>
            <a:pPr indent="0" marL="0">
              <a:buNone/>
            </a:pPr>
            <a:r>
              <a:rPr lang="en-US" sz="900" dirty="0">
                <a:solidFill>
                  <a:srgbClr val="2C5F7A"/>
                </a:solidFill>
                <a:latin typeface="Calibri" pitchFamily="34" charset="0"/>
                <a:ea typeface="Calibri" pitchFamily="34" charset="-122"/>
                <a:cs typeface="Calibri" pitchFamily="34" charset="-120"/>
              </a:rPr>
              <a:t>Asking for missing slot</a:t>
            </a:r>
            <a:endParaRPr lang="en-US" sz="900" dirty="0"/>
          </a:p>
        </p:txBody>
      </p:sp>
      <p:sp>
        <p:nvSpPr>
          <p:cNvPr id="37" name="Text 31"/>
          <p:cNvSpPr/>
          <p:nvPr/>
        </p:nvSpPr>
        <p:spPr>
          <a:xfrm>
            <a:off x="5715000" y="1755648"/>
            <a:ext cx="1463040" cy="274320"/>
          </a:xfrm>
          <a:prstGeom prst="rect">
            <a:avLst/>
          </a:prstGeom>
          <a:noFill/>
          <a:ln/>
        </p:spPr>
        <p:txBody>
          <a:bodyPr wrap="square" lIns="0" tIns="0" rIns="0" bIns="0" rtlCol="0" anchor="ctr"/>
          <a:lstStyle/>
          <a:p>
            <a:pPr indent="0" marL="0">
              <a:buNone/>
            </a:pPr>
            <a:r>
              <a:rPr lang="en-US" sz="900" b="1" dirty="0">
                <a:solidFill>
                  <a:srgbClr val="065A82"/>
                </a:solidFill>
                <a:latin typeface="Consolas" pitchFamily="34" charset="0"/>
                <a:ea typeface="Consolas" pitchFamily="34" charset="-122"/>
                <a:cs typeface="Consolas" pitchFamily="34" charset="-120"/>
              </a:rPr>
              <a:t>ConfirmIntent</a:t>
            </a:r>
            <a:endParaRPr lang="en-US" sz="900" dirty="0"/>
          </a:p>
        </p:txBody>
      </p:sp>
      <p:sp>
        <p:nvSpPr>
          <p:cNvPr id="38" name="Text 32"/>
          <p:cNvSpPr/>
          <p:nvPr/>
        </p:nvSpPr>
        <p:spPr>
          <a:xfrm>
            <a:off x="7223760" y="1755648"/>
            <a:ext cx="1463040" cy="274320"/>
          </a:xfrm>
          <a:prstGeom prst="rect">
            <a:avLst/>
          </a:prstGeom>
          <a:noFill/>
          <a:ln/>
        </p:spPr>
        <p:txBody>
          <a:bodyPr wrap="square" lIns="0" tIns="0" rIns="0" bIns="0" rtlCol="0" anchor="ctr"/>
          <a:lstStyle/>
          <a:p>
            <a:pPr indent="0" marL="0">
              <a:buNone/>
            </a:pPr>
            <a:r>
              <a:rPr lang="en-US" sz="900" dirty="0">
                <a:solidFill>
                  <a:srgbClr val="2C5F7A"/>
                </a:solidFill>
                <a:latin typeface="Calibri" pitchFamily="34" charset="0"/>
                <a:ea typeface="Calibri" pitchFamily="34" charset="-122"/>
                <a:cs typeface="Calibri" pitchFamily="34" charset="-120"/>
              </a:rPr>
              <a:t>Confirm before fulfilling</a:t>
            </a:r>
            <a:endParaRPr lang="en-US" sz="900" dirty="0"/>
          </a:p>
        </p:txBody>
      </p:sp>
      <p:sp>
        <p:nvSpPr>
          <p:cNvPr id="39" name="Shape 33"/>
          <p:cNvSpPr/>
          <p:nvPr/>
        </p:nvSpPr>
        <p:spPr>
          <a:xfrm>
            <a:off x="5623560" y="2157984"/>
            <a:ext cx="3154680" cy="493776"/>
          </a:xfrm>
          <a:prstGeom prst="rect">
            <a:avLst/>
          </a:prstGeom>
          <a:solidFill>
            <a:srgbClr val="D0EEF5"/>
          </a:solidFill>
          <a:ln/>
        </p:spPr>
      </p:sp>
      <p:sp>
        <p:nvSpPr>
          <p:cNvPr id="40" name="Text 34"/>
          <p:cNvSpPr/>
          <p:nvPr/>
        </p:nvSpPr>
        <p:spPr>
          <a:xfrm>
            <a:off x="5715000" y="2249424"/>
            <a:ext cx="1463040" cy="274320"/>
          </a:xfrm>
          <a:prstGeom prst="rect">
            <a:avLst/>
          </a:prstGeom>
          <a:noFill/>
          <a:ln/>
        </p:spPr>
        <p:txBody>
          <a:bodyPr wrap="square" lIns="0" tIns="0" rIns="0" bIns="0" rtlCol="0" anchor="ctr"/>
          <a:lstStyle/>
          <a:p>
            <a:pPr indent="0" marL="0">
              <a:buNone/>
            </a:pPr>
            <a:r>
              <a:rPr lang="en-US" sz="900" b="1" dirty="0">
                <a:solidFill>
                  <a:srgbClr val="065A82"/>
                </a:solidFill>
                <a:latin typeface="Consolas" pitchFamily="34" charset="0"/>
                <a:ea typeface="Consolas" pitchFamily="34" charset="-122"/>
                <a:cs typeface="Consolas" pitchFamily="34" charset="-120"/>
              </a:rPr>
              <a:t>Fulfilled</a:t>
            </a:r>
            <a:endParaRPr lang="en-US" sz="900" dirty="0"/>
          </a:p>
        </p:txBody>
      </p:sp>
      <p:sp>
        <p:nvSpPr>
          <p:cNvPr id="41" name="Text 35"/>
          <p:cNvSpPr/>
          <p:nvPr/>
        </p:nvSpPr>
        <p:spPr>
          <a:xfrm>
            <a:off x="7223760" y="2249424"/>
            <a:ext cx="1463040" cy="274320"/>
          </a:xfrm>
          <a:prstGeom prst="rect">
            <a:avLst/>
          </a:prstGeom>
          <a:noFill/>
          <a:ln/>
        </p:spPr>
        <p:txBody>
          <a:bodyPr wrap="square" lIns="0" tIns="0" rIns="0" bIns="0" rtlCol="0" anchor="ctr"/>
          <a:lstStyle/>
          <a:p>
            <a:pPr indent="0" marL="0">
              <a:buNone/>
            </a:pPr>
            <a:r>
              <a:rPr lang="en-US" sz="900" dirty="0">
                <a:solidFill>
                  <a:srgbClr val="2C5F7A"/>
                </a:solidFill>
                <a:latin typeface="Calibri" pitchFamily="34" charset="0"/>
                <a:ea typeface="Calibri" pitchFamily="34" charset="-122"/>
                <a:cs typeface="Calibri" pitchFamily="34" charset="-120"/>
              </a:rPr>
              <a:t>Intent fulfilled</a:t>
            </a:r>
            <a:endParaRPr lang="en-US" sz="900" dirty="0"/>
          </a:p>
        </p:txBody>
      </p:sp>
      <p:sp>
        <p:nvSpPr>
          <p:cNvPr id="42" name="Text 36"/>
          <p:cNvSpPr/>
          <p:nvPr/>
        </p:nvSpPr>
        <p:spPr>
          <a:xfrm>
            <a:off x="5715000" y="2743200"/>
            <a:ext cx="1463040" cy="274320"/>
          </a:xfrm>
          <a:prstGeom prst="rect">
            <a:avLst/>
          </a:prstGeom>
          <a:noFill/>
          <a:ln/>
        </p:spPr>
        <p:txBody>
          <a:bodyPr wrap="square" lIns="0" tIns="0" rIns="0" bIns="0" rtlCol="0" anchor="ctr"/>
          <a:lstStyle/>
          <a:p>
            <a:pPr indent="0" marL="0">
              <a:buNone/>
            </a:pPr>
            <a:r>
              <a:rPr lang="en-US" sz="900" b="1" dirty="0">
                <a:solidFill>
                  <a:srgbClr val="065A82"/>
                </a:solidFill>
                <a:latin typeface="Consolas" pitchFamily="34" charset="0"/>
                <a:ea typeface="Consolas" pitchFamily="34" charset="-122"/>
                <a:cs typeface="Consolas" pitchFamily="34" charset="-120"/>
              </a:rPr>
              <a:t>ReadyForFulfillment</a:t>
            </a:r>
            <a:endParaRPr lang="en-US" sz="900" dirty="0"/>
          </a:p>
        </p:txBody>
      </p:sp>
      <p:sp>
        <p:nvSpPr>
          <p:cNvPr id="43" name="Text 37"/>
          <p:cNvSpPr/>
          <p:nvPr/>
        </p:nvSpPr>
        <p:spPr>
          <a:xfrm>
            <a:off x="7223760" y="2743200"/>
            <a:ext cx="1463040" cy="274320"/>
          </a:xfrm>
          <a:prstGeom prst="rect">
            <a:avLst/>
          </a:prstGeom>
          <a:noFill/>
          <a:ln/>
        </p:spPr>
        <p:txBody>
          <a:bodyPr wrap="square" lIns="0" tIns="0" rIns="0" bIns="0" rtlCol="0" anchor="ctr"/>
          <a:lstStyle/>
          <a:p>
            <a:pPr indent="0" marL="0">
              <a:buNone/>
            </a:pPr>
            <a:r>
              <a:rPr lang="en-US" sz="900" dirty="0">
                <a:solidFill>
                  <a:srgbClr val="2C5F7A"/>
                </a:solidFill>
                <a:latin typeface="Calibri" pitchFamily="34" charset="0"/>
                <a:ea typeface="Calibri" pitchFamily="34" charset="-122"/>
                <a:cs typeface="Calibri" pitchFamily="34" charset="-120"/>
              </a:rPr>
              <a:t>Ready for external call</a:t>
            </a:r>
            <a:endParaRPr lang="en-US" sz="900" dirty="0"/>
          </a:p>
        </p:txBody>
      </p:sp>
      <p:sp>
        <p:nvSpPr>
          <p:cNvPr id="44" name="Shape 38"/>
          <p:cNvSpPr/>
          <p:nvPr/>
        </p:nvSpPr>
        <p:spPr>
          <a:xfrm>
            <a:off x="5623560" y="3145536"/>
            <a:ext cx="3154680" cy="493776"/>
          </a:xfrm>
          <a:prstGeom prst="rect">
            <a:avLst/>
          </a:prstGeom>
          <a:solidFill>
            <a:srgbClr val="D0EEF5"/>
          </a:solidFill>
          <a:ln/>
        </p:spPr>
      </p:sp>
      <p:sp>
        <p:nvSpPr>
          <p:cNvPr id="45" name="Text 39"/>
          <p:cNvSpPr/>
          <p:nvPr/>
        </p:nvSpPr>
        <p:spPr>
          <a:xfrm>
            <a:off x="5715000" y="3236976"/>
            <a:ext cx="1463040" cy="274320"/>
          </a:xfrm>
          <a:prstGeom prst="rect">
            <a:avLst/>
          </a:prstGeom>
          <a:noFill/>
          <a:ln/>
        </p:spPr>
        <p:txBody>
          <a:bodyPr wrap="square" lIns="0" tIns="0" rIns="0" bIns="0" rtlCol="0" anchor="ctr"/>
          <a:lstStyle/>
          <a:p>
            <a:pPr indent="0" marL="0">
              <a:buNone/>
            </a:pPr>
            <a:r>
              <a:rPr lang="en-US" sz="900" b="1" dirty="0">
                <a:solidFill>
                  <a:srgbClr val="065A82"/>
                </a:solidFill>
                <a:latin typeface="Consolas" pitchFamily="34" charset="0"/>
                <a:ea typeface="Consolas" pitchFamily="34" charset="-122"/>
                <a:cs typeface="Consolas" pitchFamily="34" charset="-120"/>
              </a:rPr>
              <a:t>Failed</a:t>
            </a:r>
            <a:endParaRPr lang="en-US" sz="900" dirty="0"/>
          </a:p>
        </p:txBody>
      </p:sp>
      <p:sp>
        <p:nvSpPr>
          <p:cNvPr id="46" name="Text 40"/>
          <p:cNvSpPr/>
          <p:nvPr/>
        </p:nvSpPr>
        <p:spPr>
          <a:xfrm>
            <a:off x="7223760" y="3236976"/>
            <a:ext cx="1463040" cy="274320"/>
          </a:xfrm>
          <a:prstGeom prst="rect">
            <a:avLst/>
          </a:prstGeom>
          <a:noFill/>
          <a:ln/>
        </p:spPr>
        <p:txBody>
          <a:bodyPr wrap="square" lIns="0" tIns="0" rIns="0" bIns="0" rtlCol="0" anchor="ctr"/>
          <a:lstStyle/>
          <a:p>
            <a:pPr indent="0" marL="0">
              <a:buNone/>
            </a:pPr>
            <a:r>
              <a:rPr lang="en-US" sz="900" dirty="0">
                <a:solidFill>
                  <a:srgbClr val="2C5F7A"/>
                </a:solidFill>
                <a:latin typeface="Calibri" pitchFamily="34" charset="0"/>
                <a:ea typeface="Calibri" pitchFamily="34" charset="-122"/>
                <a:cs typeface="Calibri" pitchFamily="34" charset="-120"/>
              </a:rPr>
              <a:t>Dialog failed / aborted</a:t>
            </a:r>
            <a:endParaRPr lang="en-US" sz="900" dirty="0"/>
          </a:p>
        </p:txBody>
      </p:sp>
      <p:sp>
        <p:nvSpPr>
          <p:cNvPr id="47" name="Text 41"/>
          <p:cNvSpPr/>
          <p:nvPr/>
        </p:nvSpPr>
        <p:spPr>
          <a:xfrm>
            <a:off x="5715000" y="3730752"/>
            <a:ext cx="1463040" cy="274320"/>
          </a:xfrm>
          <a:prstGeom prst="rect">
            <a:avLst/>
          </a:prstGeom>
          <a:noFill/>
          <a:ln/>
        </p:spPr>
        <p:txBody>
          <a:bodyPr wrap="square" lIns="0" tIns="0" rIns="0" bIns="0" rtlCol="0" anchor="ctr"/>
          <a:lstStyle/>
          <a:p>
            <a:pPr indent="0" marL="0">
              <a:buNone/>
            </a:pPr>
            <a:r>
              <a:rPr lang="en-US" sz="900" b="1" dirty="0">
                <a:solidFill>
                  <a:srgbClr val="065A82"/>
                </a:solidFill>
                <a:latin typeface="Consolas" pitchFamily="34" charset="0"/>
                <a:ea typeface="Consolas" pitchFamily="34" charset="-122"/>
                <a:cs typeface="Consolas" pitchFamily="34" charset="-120"/>
              </a:rPr>
              <a:t>Close</a:t>
            </a:r>
            <a:endParaRPr lang="en-US" sz="900" dirty="0"/>
          </a:p>
        </p:txBody>
      </p:sp>
      <p:sp>
        <p:nvSpPr>
          <p:cNvPr id="48" name="Text 42"/>
          <p:cNvSpPr/>
          <p:nvPr/>
        </p:nvSpPr>
        <p:spPr>
          <a:xfrm>
            <a:off x="7223760" y="3730752"/>
            <a:ext cx="1463040" cy="274320"/>
          </a:xfrm>
          <a:prstGeom prst="rect">
            <a:avLst/>
          </a:prstGeom>
          <a:noFill/>
          <a:ln/>
        </p:spPr>
        <p:txBody>
          <a:bodyPr wrap="square" lIns="0" tIns="0" rIns="0" bIns="0" rtlCol="0" anchor="ctr"/>
          <a:lstStyle/>
          <a:p>
            <a:pPr indent="0" marL="0">
              <a:buNone/>
            </a:pPr>
            <a:r>
              <a:rPr lang="en-US" sz="900" dirty="0">
                <a:solidFill>
                  <a:srgbClr val="2C5F7A"/>
                </a:solidFill>
                <a:latin typeface="Calibri" pitchFamily="34" charset="0"/>
                <a:ea typeface="Calibri" pitchFamily="34" charset="-122"/>
                <a:cs typeface="Calibri" pitchFamily="34" charset="-120"/>
              </a:rPr>
              <a:t>Conversation ended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5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65A82"/>
          </a:solidFill>
          <a:ln/>
        </p:spPr>
      </p:sp>
      <p:sp>
        <p:nvSpPr>
          <p:cNvPr id="3" name="Text 1"/>
          <p:cNvSpPr/>
          <p:nvPr/>
        </p:nvSpPr>
        <p:spPr>
          <a:xfrm>
            <a:off x="411480" y="64008"/>
            <a:ext cx="77724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CI/CD Integration · GitHub Actions</a:t>
            </a:r>
            <a:endParaRPr lang="en-US" sz="2200" dirty="0"/>
          </a:p>
        </p:txBody>
      </p:sp>
      <p:sp>
        <p:nvSpPr>
          <p:cNvPr id="4" name="Text 2"/>
          <p:cNvSpPr/>
          <p:nvPr/>
        </p:nvSpPr>
        <p:spPr>
          <a:xfrm>
            <a:off x="411480" y="530352"/>
            <a:ext cx="8321040" cy="292608"/>
          </a:xfrm>
          <a:prstGeom prst="rect">
            <a:avLst/>
          </a:prstGeom>
          <a:noFill/>
          <a:ln/>
        </p:spPr>
        <p:txBody>
          <a:bodyPr wrap="square" lIns="0" tIns="0" rIns="0" bIns="0" rtlCol="0" anchor="ctr"/>
          <a:lstStyle/>
          <a:p>
            <a:pPr indent="0" marL="0">
              <a:buNone/>
            </a:pPr>
            <a:r>
              <a:rPr lang="en-US" sz="1100" i="1" dirty="0">
                <a:solidFill>
                  <a:srgbClr val="2C5F7A"/>
                </a:solidFill>
                <a:latin typeface="Calibri" pitchFamily="34" charset="0"/>
                <a:ea typeface="Calibri" pitchFamily="34" charset="-122"/>
                <a:cs typeface="Calibri" pitchFamily="34" charset="-120"/>
              </a:rPr>
              <a:t>Automated test execution on every push and pull request to main</a:t>
            </a:r>
            <a:endParaRPr lang="en-US" sz="1100" dirty="0"/>
          </a:p>
        </p:txBody>
      </p:sp>
      <p:sp>
        <p:nvSpPr>
          <p:cNvPr id="5" name="Shape 3"/>
          <p:cNvSpPr/>
          <p:nvPr/>
        </p:nvSpPr>
        <p:spPr>
          <a:xfrm>
            <a:off x="0" y="4892040"/>
            <a:ext cx="9144000" cy="251460"/>
          </a:xfrm>
          <a:prstGeom prst="rect">
            <a:avLst/>
          </a:prstGeom>
          <a:solidFill>
            <a:srgbClr val="065A82"/>
          </a:solidFill>
          <a:ln/>
        </p:spPr>
      </p:sp>
      <p:sp>
        <p:nvSpPr>
          <p:cNvPr id="6" name="Text 4"/>
          <p:cNvSpPr/>
          <p:nvPr/>
        </p:nvSpPr>
        <p:spPr>
          <a:xfrm>
            <a:off x="457200" y="4901184"/>
            <a:ext cx="7315200" cy="228600"/>
          </a:xfrm>
          <a:prstGeom prst="rect">
            <a:avLst/>
          </a:prstGeom>
          <a:noFill/>
          <a:ln/>
        </p:spPr>
        <p:txBody>
          <a:bodyPr wrap="square" lIns="0" tIns="0" rIns="0" bIns="0" rtlCol="0" anchor="ctr"/>
          <a:lstStyle/>
          <a:p>
            <a:pPr indent="0" marL="0">
              <a:buNone/>
            </a:pPr>
            <a:r>
              <a:rPr lang="en-US" sz="800" dirty="0">
                <a:solidFill>
                  <a:srgbClr val="B8D4E8"/>
                </a:solidFill>
                <a:latin typeface="Calibri" pitchFamily="34" charset="0"/>
                <a:ea typeface="Calibri" pitchFamily="34" charset="-122"/>
                <a:cs typeface="Calibri" pitchFamily="34" charset="-120"/>
              </a:rPr>
              <a:t>Amazon Connect Automation Testing Framework  |  Confidential</a:t>
            </a:r>
            <a:endParaRPr lang="en-US" sz="800" dirty="0"/>
          </a:p>
        </p:txBody>
      </p:sp>
      <p:sp>
        <p:nvSpPr>
          <p:cNvPr id="7" name="Shape 5"/>
          <p:cNvSpPr/>
          <p:nvPr/>
        </p:nvSpPr>
        <p:spPr>
          <a:xfrm>
            <a:off x="320040" y="804672"/>
            <a:ext cx="1417320" cy="2651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20040" y="804672"/>
            <a:ext cx="1417320" cy="365760"/>
          </a:xfrm>
          <a:prstGeom prst="rect">
            <a:avLst/>
          </a:prstGeom>
          <a:solidFill>
            <a:srgbClr val="065A82"/>
          </a:solidFill>
          <a:ln/>
        </p:spPr>
      </p:sp>
      <p:sp>
        <p:nvSpPr>
          <p:cNvPr id="9" name="Text 7"/>
          <p:cNvSpPr/>
          <p:nvPr/>
        </p:nvSpPr>
        <p:spPr>
          <a:xfrm>
            <a:off x="320040" y="804672"/>
            <a:ext cx="1417320" cy="365760"/>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1</a:t>
            </a:r>
            <a:endParaRPr lang="en-US" sz="1600" dirty="0"/>
          </a:p>
        </p:txBody>
      </p:sp>
      <p:sp>
        <p:nvSpPr>
          <p:cNvPr id="10" name="Shape 8"/>
          <p:cNvSpPr/>
          <p:nvPr/>
        </p:nvSpPr>
        <p:spPr>
          <a:xfrm>
            <a:off x="763524" y="1280160"/>
            <a:ext cx="530352" cy="530352"/>
          </a:xfrm>
          <a:prstGeom prst="oval">
            <a:avLst/>
          </a:prstGeom>
          <a:solidFill>
            <a:srgbClr val="065A82"/>
          </a:solidFill>
          <a:ln/>
        </p:spPr>
      </p:sp>
      <p:pic>
        <p:nvPicPr>
          <p:cNvPr id="11" name="Image 0" descr="preencoded.png">    </p:cNvPr>
          <p:cNvPicPr>
            <a:picLocks noChangeAspect="1"/>
          </p:cNvPicPr>
          <p:nvPr/>
        </p:nvPicPr>
        <p:blipFill>
          <a:blip r:embed="rId1"/>
          <a:stretch>
            <a:fillRect/>
          </a:stretch>
        </p:blipFill>
        <p:spPr>
          <a:xfrm>
            <a:off x="827532" y="1344168"/>
            <a:ext cx="402336" cy="402336"/>
          </a:xfrm>
          <a:prstGeom prst="rect">
            <a:avLst/>
          </a:prstGeom>
        </p:spPr>
      </p:pic>
      <p:sp>
        <p:nvSpPr>
          <p:cNvPr id="12" name="Text 9"/>
          <p:cNvSpPr/>
          <p:nvPr/>
        </p:nvSpPr>
        <p:spPr>
          <a:xfrm>
            <a:off x="320040" y="1920240"/>
            <a:ext cx="1417320" cy="310896"/>
          </a:xfrm>
          <a:prstGeom prst="rect">
            <a:avLst/>
          </a:prstGeom>
          <a:noFill/>
          <a:ln/>
        </p:spPr>
        <p:txBody>
          <a:bodyPr wrap="square" lIns="0" tIns="0" rIns="0" bIns="0"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Trigger</a:t>
            </a:r>
            <a:endParaRPr lang="en-US" sz="1200" dirty="0"/>
          </a:p>
        </p:txBody>
      </p:sp>
      <p:sp>
        <p:nvSpPr>
          <p:cNvPr id="13" name="Text 10"/>
          <p:cNvSpPr/>
          <p:nvPr/>
        </p:nvSpPr>
        <p:spPr>
          <a:xfrm>
            <a:off x="411480" y="2286000"/>
            <a:ext cx="1234440" cy="731520"/>
          </a:xfrm>
          <a:prstGeom prst="rect">
            <a:avLst/>
          </a:prstGeom>
          <a:noFill/>
          <a:ln/>
        </p:spPr>
        <p:txBody>
          <a:bodyPr wrap="square" lIns="0" tIns="0" rIns="0" bIns="0" rtlCol="0" anchor="ctr"/>
          <a:lstStyle/>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Push / PR to main</a:t>
            </a:r>
            <a:endParaRPr lang="en-US" sz="900" dirty="0"/>
          </a:p>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branch triggers workflow</a:t>
            </a:r>
            <a:endParaRPr lang="en-US" sz="900" dirty="0"/>
          </a:p>
        </p:txBody>
      </p:sp>
      <p:sp>
        <p:nvSpPr>
          <p:cNvPr id="14" name="Text 11"/>
          <p:cNvSpPr/>
          <p:nvPr/>
        </p:nvSpPr>
        <p:spPr>
          <a:xfrm>
            <a:off x="1801368" y="1371600"/>
            <a:ext cx="164592" cy="45720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5" name="Shape 12"/>
          <p:cNvSpPr/>
          <p:nvPr/>
        </p:nvSpPr>
        <p:spPr>
          <a:xfrm>
            <a:off x="2029968" y="804672"/>
            <a:ext cx="1417320" cy="2651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3"/>
          <p:cNvSpPr/>
          <p:nvPr/>
        </p:nvSpPr>
        <p:spPr>
          <a:xfrm>
            <a:off x="2029968" y="804672"/>
            <a:ext cx="1417320" cy="365760"/>
          </a:xfrm>
          <a:prstGeom prst="rect">
            <a:avLst/>
          </a:prstGeom>
          <a:solidFill>
            <a:srgbClr val="1C7293"/>
          </a:solidFill>
          <a:ln/>
        </p:spPr>
      </p:sp>
      <p:sp>
        <p:nvSpPr>
          <p:cNvPr id="17" name="Text 14"/>
          <p:cNvSpPr/>
          <p:nvPr/>
        </p:nvSpPr>
        <p:spPr>
          <a:xfrm>
            <a:off x="2029968" y="804672"/>
            <a:ext cx="1417320" cy="365760"/>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2</a:t>
            </a:r>
            <a:endParaRPr lang="en-US" sz="1600" dirty="0"/>
          </a:p>
        </p:txBody>
      </p:sp>
      <p:sp>
        <p:nvSpPr>
          <p:cNvPr id="18" name="Shape 15"/>
          <p:cNvSpPr/>
          <p:nvPr/>
        </p:nvSpPr>
        <p:spPr>
          <a:xfrm>
            <a:off x="2473452" y="1280160"/>
            <a:ext cx="530352" cy="530352"/>
          </a:xfrm>
          <a:prstGeom prst="oval">
            <a:avLst/>
          </a:prstGeom>
          <a:solidFill>
            <a:srgbClr val="1C7293"/>
          </a:solidFill>
          <a:ln/>
        </p:spPr>
      </p:sp>
      <p:pic>
        <p:nvPicPr>
          <p:cNvPr id="19" name="Image 1" descr="preencoded.png">    </p:cNvPr>
          <p:cNvPicPr>
            <a:picLocks noChangeAspect="1"/>
          </p:cNvPicPr>
          <p:nvPr/>
        </p:nvPicPr>
        <p:blipFill>
          <a:blip r:embed="rId2"/>
          <a:stretch>
            <a:fillRect/>
          </a:stretch>
        </p:blipFill>
        <p:spPr>
          <a:xfrm>
            <a:off x="2537460" y="1344168"/>
            <a:ext cx="402336" cy="402336"/>
          </a:xfrm>
          <a:prstGeom prst="rect">
            <a:avLst/>
          </a:prstGeom>
        </p:spPr>
      </p:pic>
      <p:sp>
        <p:nvSpPr>
          <p:cNvPr id="20" name="Text 16"/>
          <p:cNvSpPr/>
          <p:nvPr/>
        </p:nvSpPr>
        <p:spPr>
          <a:xfrm>
            <a:off x="2029968" y="1920240"/>
            <a:ext cx="1417320" cy="310896"/>
          </a:xfrm>
          <a:prstGeom prst="rect">
            <a:avLst/>
          </a:prstGeom>
          <a:noFill/>
          <a:ln/>
        </p:spPr>
        <p:txBody>
          <a:bodyPr wrap="square" lIns="0" tIns="0" rIns="0" bIns="0"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Setup</a:t>
            </a:r>
            <a:endParaRPr lang="en-US" sz="1200" dirty="0"/>
          </a:p>
        </p:txBody>
      </p:sp>
      <p:sp>
        <p:nvSpPr>
          <p:cNvPr id="21" name="Text 17"/>
          <p:cNvSpPr/>
          <p:nvPr/>
        </p:nvSpPr>
        <p:spPr>
          <a:xfrm>
            <a:off x="2121408" y="2286000"/>
            <a:ext cx="1234440" cy="731520"/>
          </a:xfrm>
          <a:prstGeom prst="rect">
            <a:avLst/>
          </a:prstGeom>
          <a:noFill/>
          <a:ln/>
        </p:spPr>
        <p:txBody>
          <a:bodyPr wrap="square" lIns="0" tIns="0" rIns="0" bIns="0" rtlCol="0" anchor="ctr"/>
          <a:lstStyle/>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Python env,</a:t>
            </a:r>
            <a:endParaRPr lang="en-US" sz="900" dirty="0"/>
          </a:p>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dependencies, .env secrets</a:t>
            </a:r>
            <a:endParaRPr lang="en-US" sz="900" dirty="0"/>
          </a:p>
        </p:txBody>
      </p:sp>
      <p:sp>
        <p:nvSpPr>
          <p:cNvPr id="22" name="Text 18"/>
          <p:cNvSpPr/>
          <p:nvPr/>
        </p:nvSpPr>
        <p:spPr>
          <a:xfrm>
            <a:off x="3511296" y="1371600"/>
            <a:ext cx="164592" cy="45720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23" name="Shape 19"/>
          <p:cNvSpPr/>
          <p:nvPr/>
        </p:nvSpPr>
        <p:spPr>
          <a:xfrm>
            <a:off x="3739896" y="804672"/>
            <a:ext cx="1417320" cy="2651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0"/>
          <p:cNvSpPr/>
          <p:nvPr/>
        </p:nvSpPr>
        <p:spPr>
          <a:xfrm>
            <a:off x="3739896" y="804672"/>
            <a:ext cx="1417320" cy="365760"/>
          </a:xfrm>
          <a:prstGeom prst="rect">
            <a:avLst/>
          </a:prstGeom>
          <a:solidFill>
            <a:srgbClr val="02C39A"/>
          </a:solidFill>
          <a:ln/>
        </p:spPr>
      </p:sp>
      <p:sp>
        <p:nvSpPr>
          <p:cNvPr id="25" name="Text 21"/>
          <p:cNvSpPr/>
          <p:nvPr/>
        </p:nvSpPr>
        <p:spPr>
          <a:xfrm>
            <a:off x="3739896" y="804672"/>
            <a:ext cx="1417320" cy="365760"/>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3</a:t>
            </a:r>
            <a:endParaRPr lang="en-US" sz="1600" dirty="0"/>
          </a:p>
        </p:txBody>
      </p:sp>
      <p:sp>
        <p:nvSpPr>
          <p:cNvPr id="26" name="Shape 22"/>
          <p:cNvSpPr/>
          <p:nvPr/>
        </p:nvSpPr>
        <p:spPr>
          <a:xfrm>
            <a:off x="4183380" y="1280160"/>
            <a:ext cx="530352" cy="530352"/>
          </a:xfrm>
          <a:prstGeom prst="oval">
            <a:avLst/>
          </a:prstGeom>
          <a:solidFill>
            <a:srgbClr val="02C39A"/>
          </a:solidFill>
          <a:ln/>
        </p:spPr>
      </p:sp>
      <p:pic>
        <p:nvPicPr>
          <p:cNvPr id="27" name="Image 2" descr="preencoded.png">    </p:cNvPr>
          <p:cNvPicPr>
            <a:picLocks noChangeAspect="1"/>
          </p:cNvPicPr>
          <p:nvPr/>
        </p:nvPicPr>
        <p:blipFill>
          <a:blip r:embed="rId3"/>
          <a:stretch>
            <a:fillRect/>
          </a:stretch>
        </p:blipFill>
        <p:spPr>
          <a:xfrm>
            <a:off x="4247388" y="1344168"/>
            <a:ext cx="402336" cy="402336"/>
          </a:xfrm>
          <a:prstGeom prst="rect">
            <a:avLst/>
          </a:prstGeom>
        </p:spPr>
      </p:pic>
      <p:sp>
        <p:nvSpPr>
          <p:cNvPr id="28" name="Text 23"/>
          <p:cNvSpPr/>
          <p:nvPr/>
        </p:nvSpPr>
        <p:spPr>
          <a:xfrm>
            <a:off x="3739896" y="1920240"/>
            <a:ext cx="1417320" cy="310896"/>
          </a:xfrm>
          <a:prstGeom prst="rect">
            <a:avLst/>
          </a:prstGeom>
          <a:noFill/>
          <a:ln/>
        </p:spPr>
        <p:txBody>
          <a:bodyPr wrap="square" lIns="0" tIns="0" rIns="0" bIns="0"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Mock Tests</a:t>
            </a:r>
            <a:endParaRPr lang="en-US" sz="1200" dirty="0"/>
          </a:p>
        </p:txBody>
      </p:sp>
      <p:sp>
        <p:nvSpPr>
          <p:cNvPr id="29" name="Text 24"/>
          <p:cNvSpPr/>
          <p:nvPr/>
        </p:nvSpPr>
        <p:spPr>
          <a:xfrm>
            <a:off x="3831336" y="2286000"/>
            <a:ext cx="1234440" cy="731520"/>
          </a:xfrm>
          <a:prstGeom prst="rect">
            <a:avLst/>
          </a:prstGeom>
          <a:noFill/>
          <a:ln/>
        </p:spPr>
        <p:txBody>
          <a:bodyPr wrap="square" lIns="0" tIns="0" rIns="0" bIns="0" rtlCol="0" anchor="ctr"/>
          <a:lstStyle/>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MOCK_AWS=true</a:t>
            </a:r>
            <a:endParaRPr lang="en-US" sz="900" dirty="0"/>
          </a:p>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All unit + flow tests</a:t>
            </a:r>
            <a:endParaRPr lang="en-US" sz="900" dirty="0"/>
          </a:p>
        </p:txBody>
      </p:sp>
      <p:sp>
        <p:nvSpPr>
          <p:cNvPr id="30" name="Text 25"/>
          <p:cNvSpPr/>
          <p:nvPr/>
        </p:nvSpPr>
        <p:spPr>
          <a:xfrm>
            <a:off x="5221224" y="1371600"/>
            <a:ext cx="164592" cy="45720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31" name="Shape 26"/>
          <p:cNvSpPr/>
          <p:nvPr/>
        </p:nvSpPr>
        <p:spPr>
          <a:xfrm>
            <a:off x="5449824" y="804672"/>
            <a:ext cx="1417320" cy="2651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27"/>
          <p:cNvSpPr/>
          <p:nvPr/>
        </p:nvSpPr>
        <p:spPr>
          <a:xfrm>
            <a:off x="5449824" y="804672"/>
            <a:ext cx="1417320" cy="365760"/>
          </a:xfrm>
          <a:prstGeom prst="rect">
            <a:avLst/>
          </a:prstGeom>
          <a:solidFill>
            <a:srgbClr val="F0A500"/>
          </a:solidFill>
          <a:ln/>
        </p:spPr>
      </p:sp>
      <p:sp>
        <p:nvSpPr>
          <p:cNvPr id="33" name="Text 28"/>
          <p:cNvSpPr/>
          <p:nvPr/>
        </p:nvSpPr>
        <p:spPr>
          <a:xfrm>
            <a:off x="5449824" y="804672"/>
            <a:ext cx="1417320" cy="365760"/>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4</a:t>
            </a:r>
            <a:endParaRPr lang="en-US" sz="1600" dirty="0"/>
          </a:p>
        </p:txBody>
      </p:sp>
      <p:sp>
        <p:nvSpPr>
          <p:cNvPr id="34" name="Shape 29"/>
          <p:cNvSpPr/>
          <p:nvPr/>
        </p:nvSpPr>
        <p:spPr>
          <a:xfrm>
            <a:off x="5893308" y="1280160"/>
            <a:ext cx="530352" cy="530352"/>
          </a:xfrm>
          <a:prstGeom prst="oval">
            <a:avLst/>
          </a:prstGeom>
          <a:solidFill>
            <a:srgbClr val="F0A500"/>
          </a:solidFill>
          <a:ln/>
        </p:spPr>
      </p:sp>
      <p:pic>
        <p:nvPicPr>
          <p:cNvPr id="35" name="Image 3" descr="preencoded.png">    </p:cNvPr>
          <p:cNvPicPr>
            <a:picLocks noChangeAspect="1"/>
          </p:cNvPicPr>
          <p:nvPr/>
        </p:nvPicPr>
        <p:blipFill>
          <a:blip r:embed="rId4"/>
          <a:stretch>
            <a:fillRect/>
          </a:stretch>
        </p:blipFill>
        <p:spPr>
          <a:xfrm>
            <a:off x="5957316" y="1344168"/>
            <a:ext cx="402336" cy="402336"/>
          </a:xfrm>
          <a:prstGeom prst="rect">
            <a:avLst/>
          </a:prstGeom>
        </p:spPr>
      </p:pic>
      <p:sp>
        <p:nvSpPr>
          <p:cNvPr id="36" name="Text 30"/>
          <p:cNvSpPr/>
          <p:nvPr/>
        </p:nvSpPr>
        <p:spPr>
          <a:xfrm>
            <a:off x="5449824" y="1920240"/>
            <a:ext cx="1417320" cy="310896"/>
          </a:xfrm>
          <a:prstGeom prst="rect">
            <a:avLst/>
          </a:prstGeom>
          <a:noFill/>
          <a:ln/>
        </p:spPr>
        <p:txBody>
          <a:bodyPr wrap="square" lIns="0" tIns="0" rIns="0" bIns="0"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Real Tests</a:t>
            </a:r>
            <a:endParaRPr lang="en-US" sz="1200" dirty="0"/>
          </a:p>
        </p:txBody>
      </p:sp>
      <p:sp>
        <p:nvSpPr>
          <p:cNvPr id="37" name="Text 31"/>
          <p:cNvSpPr/>
          <p:nvPr/>
        </p:nvSpPr>
        <p:spPr>
          <a:xfrm>
            <a:off x="5541264" y="2286000"/>
            <a:ext cx="1234440" cy="731520"/>
          </a:xfrm>
          <a:prstGeom prst="rect">
            <a:avLst/>
          </a:prstGeom>
          <a:noFill/>
          <a:ln/>
        </p:spPr>
        <p:txBody>
          <a:bodyPr wrap="square" lIns="0" tIns="0" rIns="0" bIns="0" rtlCol="0" anchor="ctr"/>
          <a:lstStyle/>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MOCK_AWS=false</a:t>
            </a:r>
            <a:endParaRPr lang="en-US" sz="900" dirty="0"/>
          </a:p>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with OIDC role ARN</a:t>
            </a:r>
            <a:endParaRPr lang="en-US" sz="900" dirty="0"/>
          </a:p>
        </p:txBody>
      </p:sp>
      <p:sp>
        <p:nvSpPr>
          <p:cNvPr id="38" name="Text 32"/>
          <p:cNvSpPr/>
          <p:nvPr/>
        </p:nvSpPr>
        <p:spPr>
          <a:xfrm>
            <a:off x="6931152" y="1371600"/>
            <a:ext cx="164592" cy="45720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39" name="Shape 33"/>
          <p:cNvSpPr/>
          <p:nvPr/>
        </p:nvSpPr>
        <p:spPr>
          <a:xfrm>
            <a:off x="7159752" y="804672"/>
            <a:ext cx="1417320" cy="2651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0" name="Shape 34"/>
          <p:cNvSpPr/>
          <p:nvPr/>
        </p:nvSpPr>
        <p:spPr>
          <a:xfrm>
            <a:off x="7159752" y="804672"/>
            <a:ext cx="1417320" cy="365760"/>
          </a:xfrm>
          <a:prstGeom prst="rect">
            <a:avLst/>
          </a:prstGeom>
          <a:solidFill>
            <a:srgbClr val="02C39A"/>
          </a:solidFill>
          <a:ln/>
        </p:spPr>
      </p:sp>
      <p:sp>
        <p:nvSpPr>
          <p:cNvPr id="41" name="Text 35"/>
          <p:cNvSpPr/>
          <p:nvPr/>
        </p:nvSpPr>
        <p:spPr>
          <a:xfrm>
            <a:off x="7159752" y="804672"/>
            <a:ext cx="1417320" cy="365760"/>
          </a:xfrm>
          <a:prstGeom prst="rect">
            <a:avLst/>
          </a:prstGeom>
          <a:noFill/>
          <a:ln/>
        </p:spPr>
        <p:txBody>
          <a:bodyPr wrap="square" lIns="0" tIns="0" rIns="0" bIns="0" rtlCol="0" anchor="ctr"/>
          <a:lstStyle/>
          <a:p>
            <a:pPr algn="ctr" indent="0" marL="0">
              <a:buNone/>
            </a:pPr>
            <a:r>
              <a:rPr lang="en-US" sz="1600" b="1" dirty="0">
                <a:solidFill>
                  <a:srgbClr val="021526"/>
                </a:solidFill>
                <a:latin typeface="Calibri" pitchFamily="34" charset="0"/>
                <a:ea typeface="Calibri" pitchFamily="34" charset="-122"/>
                <a:cs typeface="Calibri" pitchFamily="34" charset="-120"/>
              </a:rPr>
              <a:t>5</a:t>
            </a:r>
            <a:endParaRPr lang="en-US" sz="1600" dirty="0"/>
          </a:p>
        </p:txBody>
      </p:sp>
      <p:sp>
        <p:nvSpPr>
          <p:cNvPr id="42" name="Shape 36"/>
          <p:cNvSpPr/>
          <p:nvPr/>
        </p:nvSpPr>
        <p:spPr>
          <a:xfrm>
            <a:off x="7603236" y="1280160"/>
            <a:ext cx="530352" cy="530352"/>
          </a:xfrm>
          <a:prstGeom prst="oval">
            <a:avLst/>
          </a:prstGeom>
          <a:solidFill>
            <a:srgbClr val="02C39A"/>
          </a:solidFill>
          <a:ln/>
        </p:spPr>
      </p:sp>
      <p:pic>
        <p:nvPicPr>
          <p:cNvPr id="43" name="Image 4" descr="preencoded.png">    </p:cNvPr>
          <p:cNvPicPr>
            <a:picLocks noChangeAspect="1"/>
          </p:cNvPicPr>
          <p:nvPr/>
        </p:nvPicPr>
        <p:blipFill>
          <a:blip r:embed="rId5"/>
          <a:stretch>
            <a:fillRect/>
          </a:stretch>
        </p:blipFill>
        <p:spPr>
          <a:xfrm>
            <a:off x="7667244" y="1344168"/>
            <a:ext cx="402336" cy="402336"/>
          </a:xfrm>
          <a:prstGeom prst="rect">
            <a:avLst/>
          </a:prstGeom>
        </p:spPr>
      </p:pic>
      <p:sp>
        <p:nvSpPr>
          <p:cNvPr id="44" name="Text 37"/>
          <p:cNvSpPr/>
          <p:nvPr/>
        </p:nvSpPr>
        <p:spPr>
          <a:xfrm>
            <a:off x="7159752" y="1920240"/>
            <a:ext cx="1417320" cy="310896"/>
          </a:xfrm>
          <a:prstGeom prst="rect">
            <a:avLst/>
          </a:prstGeom>
          <a:noFill/>
          <a:ln/>
        </p:spPr>
        <p:txBody>
          <a:bodyPr wrap="square" lIns="0" tIns="0" rIns="0" bIns="0" rtlCol="0" anchor="ctr"/>
          <a:lstStyle/>
          <a:p>
            <a:pPr algn="ctr" indent="0" marL="0">
              <a:buNone/>
            </a:pPr>
            <a:r>
              <a:rPr lang="en-US" sz="1200" b="1" dirty="0">
                <a:solidFill>
                  <a:srgbClr val="0A2342"/>
                </a:solidFill>
                <a:latin typeface="Calibri" pitchFamily="34" charset="0"/>
                <a:ea typeface="Calibri" pitchFamily="34" charset="-122"/>
                <a:cs typeface="Calibri" pitchFamily="34" charset="-120"/>
              </a:rPr>
              <a:t>Report</a:t>
            </a:r>
            <a:endParaRPr lang="en-US" sz="1200" dirty="0"/>
          </a:p>
        </p:txBody>
      </p:sp>
      <p:sp>
        <p:nvSpPr>
          <p:cNvPr id="45" name="Text 38"/>
          <p:cNvSpPr/>
          <p:nvPr/>
        </p:nvSpPr>
        <p:spPr>
          <a:xfrm>
            <a:off x="7251192" y="2286000"/>
            <a:ext cx="1234440" cy="731520"/>
          </a:xfrm>
          <a:prstGeom prst="rect">
            <a:avLst/>
          </a:prstGeom>
          <a:noFill/>
          <a:ln/>
        </p:spPr>
        <p:txBody>
          <a:bodyPr wrap="square" lIns="0" tIns="0" rIns="0" bIns="0" rtlCol="0" anchor="ctr"/>
          <a:lstStyle/>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HTML + JSON artefacts</a:t>
            </a:r>
            <a:endParaRPr lang="en-US" sz="900" dirty="0"/>
          </a:p>
          <a:p>
            <a:pPr algn="ctr" indent="0" marL="0">
              <a:lnSpc>
                <a:spcPct val="130000"/>
              </a:lnSpc>
              <a:buNone/>
            </a:pPr>
            <a:r>
              <a:rPr lang="en-US" sz="900" dirty="0">
                <a:solidFill>
                  <a:srgbClr val="2C5F7A"/>
                </a:solidFill>
                <a:latin typeface="Calibri" pitchFamily="34" charset="0"/>
                <a:ea typeface="Calibri" pitchFamily="34" charset="-122"/>
                <a:cs typeface="Calibri" pitchFamily="34" charset="-120"/>
              </a:rPr>
              <a:t>uploaded to Actions</a:t>
            </a:r>
            <a:endParaRPr lang="en-US" sz="900" dirty="0"/>
          </a:p>
        </p:txBody>
      </p:sp>
      <p:sp>
        <p:nvSpPr>
          <p:cNvPr id="46" name="Shape 39"/>
          <p:cNvSpPr/>
          <p:nvPr/>
        </p:nvSpPr>
        <p:spPr>
          <a:xfrm>
            <a:off x="365760" y="3703320"/>
            <a:ext cx="8412480" cy="347472"/>
          </a:xfrm>
          <a:prstGeom prst="rect">
            <a:avLst/>
          </a:prstGeom>
          <a:solidFill>
            <a:srgbClr val="065A82"/>
          </a:solidFill>
          <a:ln/>
        </p:spPr>
      </p:sp>
      <p:sp>
        <p:nvSpPr>
          <p:cNvPr id="47" name="Text 40"/>
          <p:cNvSpPr/>
          <p:nvPr/>
        </p:nvSpPr>
        <p:spPr>
          <a:xfrm>
            <a:off x="457200" y="3721608"/>
            <a:ext cx="8229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Required GitHub Secrets</a:t>
            </a:r>
            <a:endParaRPr lang="en-US" sz="1100" dirty="0"/>
          </a:p>
        </p:txBody>
      </p:sp>
      <p:sp>
        <p:nvSpPr>
          <p:cNvPr id="48" name="Shape 41"/>
          <p:cNvSpPr/>
          <p:nvPr/>
        </p:nvSpPr>
        <p:spPr>
          <a:xfrm>
            <a:off x="365760" y="4050792"/>
            <a:ext cx="8412480" cy="7132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9" name="Text 42"/>
          <p:cNvSpPr/>
          <p:nvPr/>
        </p:nvSpPr>
        <p:spPr>
          <a:xfrm>
            <a:off x="502920" y="4087368"/>
            <a:ext cx="2560320" cy="201168"/>
          </a:xfrm>
          <a:prstGeom prst="rect">
            <a:avLst/>
          </a:prstGeom>
          <a:noFill/>
          <a:ln/>
        </p:spPr>
        <p:txBody>
          <a:bodyPr wrap="square" lIns="0" tIns="0" rIns="0" bIns="0" rtlCol="0" anchor="ctr"/>
          <a:lstStyle/>
          <a:p>
            <a:pPr indent="0" marL="0">
              <a:buNone/>
            </a:pPr>
            <a:r>
              <a:rPr lang="en-US" sz="900" b="1" dirty="0">
                <a:solidFill>
                  <a:srgbClr val="065A82"/>
                </a:solidFill>
                <a:latin typeface="Consolas" pitchFamily="34" charset="0"/>
                <a:ea typeface="Consolas" pitchFamily="34" charset="-122"/>
                <a:cs typeface="Consolas" pitchFamily="34" charset="-120"/>
              </a:rPr>
              <a:t>AWS_ROLE_ARN</a:t>
            </a:r>
            <a:endParaRPr lang="en-US" sz="900" dirty="0"/>
          </a:p>
        </p:txBody>
      </p:sp>
      <p:sp>
        <p:nvSpPr>
          <p:cNvPr id="50" name="Text 43"/>
          <p:cNvSpPr/>
          <p:nvPr/>
        </p:nvSpPr>
        <p:spPr>
          <a:xfrm>
            <a:off x="3246120" y="4087368"/>
            <a:ext cx="5303520" cy="201168"/>
          </a:xfrm>
          <a:prstGeom prst="rect">
            <a:avLst/>
          </a:prstGeom>
          <a:noFill/>
          <a:ln/>
        </p:spPr>
        <p:txBody>
          <a:bodyPr wrap="square" lIns="0" tIns="0" rIns="0" bIns="0" rtlCol="0" anchor="ctr"/>
          <a:lstStyle/>
          <a:p>
            <a:pPr indent="0" marL="0">
              <a:buNone/>
            </a:pPr>
            <a:r>
              <a:rPr lang="en-US" sz="900" dirty="0">
                <a:solidFill>
                  <a:srgbClr val="2C5F7A"/>
                </a:solidFill>
                <a:latin typeface="Calibri" pitchFamily="34" charset="0"/>
                <a:ea typeface="Calibri" pitchFamily="34" charset="-122"/>
                <a:cs typeface="Calibri" pitchFamily="34" charset="-120"/>
              </a:rPr>
              <a:t>OIDC trust role ARN for GitHub Actions</a:t>
            </a:r>
            <a:endParaRPr lang="en-US" sz="900" dirty="0"/>
          </a:p>
        </p:txBody>
      </p:sp>
      <p:sp>
        <p:nvSpPr>
          <p:cNvPr id="51" name="Text 44"/>
          <p:cNvSpPr/>
          <p:nvPr/>
        </p:nvSpPr>
        <p:spPr>
          <a:xfrm>
            <a:off x="502920" y="4306824"/>
            <a:ext cx="2560320" cy="201168"/>
          </a:xfrm>
          <a:prstGeom prst="rect">
            <a:avLst/>
          </a:prstGeom>
          <a:noFill/>
          <a:ln/>
        </p:spPr>
        <p:txBody>
          <a:bodyPr wrap="square" lIns="0" tIns="0" rIns="0" bIns="0" rtlCol="0" anchor="ctr"/>
          <a:lstStyle/>
          <a:p>
            <a:pPr indent="0" marL="0">
              <a:buNone/>
            </a:pPr>
            <a:r>
              <a:rPr lang="en-US" sz="900" b="1" dirty="0">
                <a:solidFill>
                  <a:srgbClr val="065A82"/>
                </a:solidFill>
                <a:latin typeface="Consolas" pitchFamily="34" charset="0"/>
                <a:ea typeface="Consolas" pitchFamily="34" charset="-122"/>
                <a:cs typeface="Consolas" pitchFamily="34" charset="-120"/>
              </a:rPr>
              <a:t>AWS_REGION</a:t>
            </a:r>
            <a:endParaRPr lang="en-US" sz="900" dirty="0"/>
          </a:p>
        </p:txBody>
      </p:sp>
      <p:sp>
        <p:nvSpPr>
          <p:cNvPr id="52" name="Text 45"/>
          <p:cNvSpPr/>
          <p:nvPr/>
        </p:nvSpPr>
        <p:spPr>
          <a:xfrm>
            <a:off x="3246120" y="4306824"/>
            <a:ext cx="5303520" cy="201168"/>
          </a:xfrm>
          <a:prstGeom prst="rect">
            <a:avLst/>
          </a:prstGeom>
          <a:noFill/>
          <a:ln/>
        </p:spPr>
        <p:txBody>
          <a:bodyPr wrap="square" lIns="0" tIns="0" rIns="0" bIns="0" rtlCol="0" anchor="ctr"/>
          <a:lstStyle/>
          <a:p>
            <a:pPr indent="0" marL="0">
              <a:buNone/>
            </a:pPr>
            <a:r>
              <a:rPr lang="en-US" sz="900" dirty="0">
                <a:solidFill>
                  <a:srgbClr val="2C5F7A"/>
                </a:solidFill>
                <a:latin typeface="Calibri" pitchFamily="34" charset="0"/>
                <a:ea typeface="Calibri" pitchFamily="34" charset="-122"/>
                <a:cs typeface="Calibri" pitchFamily="34" charset="-120"/>
              </a:rPr>
              <a:t>e.g. us-east-1 or eu-west-2</a:t>
            </a:r>
            <a:endParaRPr lang="en-US" sz="900" dirty="0"/>
          </a:p>
        </p:txBody>
      </p:sp>
      <p:sp>
        <p:nvSpPr>
          <p:cNvPr id="53" name="Text 46"/>
          <p:cNvSpPr/>
          <p:nvPr/>
        </p:nvSpPr>
        <p:spPr>
          <a:xfrm>
            <a:off x="502920" y="4526280"/>
            <a:ext cx="2560320" cy="201168"/>
          </a:xfrm>
          <a:prstGeom prst="rect">
            <a:avLst/>
          </a:prstGeom>
          <a:noFill/>
          <a:ln/>
        </p:spPr>
        <p:txBody>
          <a:bodyPr wrap="square" lIns="0" tIns="0" rIns="0" bIns="0" rtlCol="0" anchor="ctr"/>
          <a:lstStyle/>
          <a:p>
            <a:pPr indent="0" marL="0">
              <a:buNone/>
            </a:pPr>
            <a:r>
              <a:rPr lang="en-US" sz="900" b="1" dirty="0">
                <a:solidFill>
                  <a:srgbClr val="065A82"/>
                </a:solidFill>
                <a:latin typeface="Consolas" pitchFamily="34" charset="0"/>
                <a:ea typeface="Consolas" pitchFamily="34" charset="-122"/>
                <a:cs typeface="Consolas" pitchFamily="34" charset="-120"/>
              </a:rPr>
              <a:t>CONNECT_INSTANCE_ID</a:t>
            </a:r>
            <a:endParaRPr lang="en-US" sz="900" dirty="0"/>
          </a:p>
        </p:txBody>
      </p:sp>
      <p:sp>
        <p:nvSpPr>
          <p:cNvPr id="54" name="Text 47"/>
          <p:cNvSpPr/>
          <p:nvPr/>
        </p:nvSpPr>
        <p:spPr>
          <a:xfrm>
            <a:off x="3246120" y="4526280"/>
            <a:ext cx="5303520" cy="201168"/>
          </a:xfrm>
          <a:prstGeom prst="rect">
            <a:avLst/>
          </a:prstGeom>
          <a:noFill/>
          <a:ln/>
        </p:spPr>
        <p:txBody>
          <a:bodyPr wrap="square" lIns="0" tIns="0" rIns="0" bIns="0" rtlCol="0" anchor="ctr"/>
          <a:lstStyle/>
          <a:p>
            <a:pPr indent="0" marL="0">
              <a:buNone/>
            </a:pPr>
            <a:r>
              <a:rPr lang="en-US" sz="900" dirty="0">
                <a:solidFill>
                  <a:srgbClr val="2C5F7A"/>
                </a:solidFill>
                <a:latin typeface="Calibri" pitchFamily="34" charset="0"/>
                <a:ea typeface="Calibri" pitchFamily="34" charset="-122"/>
                <a:cs typeface="Calibri" pitchFamily="34" charset="-120"/>
              </a:rPr>
              <a:t>Amazon Connect instance ID or ARN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BF5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65A82"/>
          </a:solidFill>
          <a:ln/>
        </p:spPr>
      </p:sp>
      <p:sp>
        <p:nvSpPr>
          <p:cNvPr id="3" name="Text 1"/>
          <p:cNvSpPr/>
          <p:nvPr/>
        </p:nvSpPr>
        <p:spPr>
          <a:xfrm>
            <a:off x="411480" y="64008"/>
            <a:ext cx="77724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Technology Stack</a:t>
            </a:r>
            <a:endParaRPr lang="en-US" sz="2200" dirty="0"/>
          </a:p>
        </p:txBody>
      </p:sp>
      <p:sp>
        <p:nvSpPr>
          <p:cNvPr id="4" name="Text 2"/>
          <p:cNvSpPr/>
          <p:nvPr/>
        </p:nvSpPr>
        <p:spPr>
          <a:xfrm>
            <a:off x="411480" y="530352"/>
            <a:ext cx="8321040" cy="292608"/>
          </a:xfrm>
          <a:prstGeom prst="rect">
            <a:avLst/>
          </a:prstGeom>
          <a:noFill/>
          <a:ln/>
        </p:spPr>
        <p:txBody>
          <a:bodyPr wrap="square" lIns="0" tIns="0" rIns="0" bIns="0" rtlCol="0" anchor="ctr"/>
          <a:lstStyle/>
          <a:p>
            <a:pPr indent="0" marL="0">
              <a:buNone/>
            </a:pPr>
            <a:r>
              <a:rPr lang="en-US" sz="1100" i="1" dirty="0">
                <a:solidFill>
                  <a:srgbClr val="2C5F7A"/>
                </a:solidFill>
                <a:latin typeface="Calibri" pitchFamily="34" charset="0"/>
                <a:ea typeface="Calibri" pitchFamily="34" charset="-122"/>
                <a:cs typeface="Calibri" pitchFamily="34" charset="-120"/>
              </a:rPr>
              <a:t>Tools, libraries, and AWS services used across all three testing modules</a:t>
            </a:r>
            <a:endParaRPr lang="en-US" sz="1100" dirty="0"/>
          </a:p>
        </p:txBody>
      </p:sp>
      <p:sp>
        <p:nvSpPr>
          <p:cNvPr id="5" name="Shape 3"/>
          <p:cNvSpPr/>
          <p:nvPr/>
        </p:nvSpPr>
        <p:spPr>
          <a:xfrm>
            <a:off x="0" y="4892040"/>
            <a:ext cx="9144000" cy="251460"/>
          </a:xfrm>
          <a:prstGeom prst="rect">
            <a:avLst/>
          </a:prstGeom>
          <a:solidFill>
            <a:srgbClr val="065A82"/>
          </a:solidFill>
          <a:ln/>
        </p:spPr>
      </p:sp>
      <p:sp>
        <p:nvSpPr>
          <p:cNvPr id="6" name="Text 4"/>
          <p:cNvSpPr/>
          <p:nvPr/>
        </p:nvSpPr>
        <p:spPr>
          <a:xfrm>
            <a:off x="457200" y="4901184"/>
            <a:ext cx="7315200" cy="228600"/>
          </a:xfrm>
          <a:prstGeom prst="rect">
            <a:avLst/>
          </a:prstGeom>
          <a:noFill/>
          <a:ln/>
        </p:spPr>
        <p:txBody>
          <a:bodyPr wrap="square" lIns="0" tIns="0" rIns="0" bIns="0" rtlCol="0" anchor="ctr"/>
          <a:lstStyle/>
          <a:p>
            <a:pPr indent="0" marL="0">
              <a:buNone/>
            </a:pPr>
            <a:r>
              <a:rPr lang="en-US" sz="800" dirty="0">
                <a:solidFill>
                  <a:srgbClr val="B8D4E8"/>
                </a:solidFill>
                <a:latin typeface="Calibri" pitchFamily="34" charset="0"/>
                <a:ea typeface="Calibri" pitchFamily="34" charset="-122"/>
                <a:cs typeface="Calibri" pitchFamily="34" charset="-120"/>
              </a:rPr>
              <a:t>Amazon Connect Automation Testing Framework  |  Confidential</a:t>
            </a:r>
            <a:endParaRPr lang="en-US" sz="800" dirty="0"/>
          </a:p>
        </p:txBody>
      </p:sp>
      <p:sp>
        <p:nvSpPr>
          <p:cNvPr id="7" name="Shape 5"/>
          <p:cNvSpPr/>
          <p:nvPr/>
        </p:nvSpPr>
        <p:spPr>
          <a:xfrm>
            <a:off x="384048" y="8046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84048" y="804672"/>
            <a:ext cx="1572768" cy="237744"/>
          </a:xfrm>
          <a:prstGeom prst="rect">
            <a:avLst/>
          </a:prstGeom>
          <a:solidFill>
            <a:srgbClr val="065A82"/>
          </a:solidFill>
          <a:ln/>
        </p:spPr>
      </p:sp>
      <p:sp>
        <p:nvSpPr>
          <p:cNvPr id="9" name="Text 7"/>
          <p:cNvSpPr/>
          <p:nvPr/>
        </p:nvSpPr>
        <p:spPr>
          <a:xfrm>
            <a:off x="384048" y="8321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Language</a:t>
            </a:r>
            <a:endParaRPr lang="en-US" sz="800" dirty="0"/>
          </a:p>
        </p:txBody>
      </p:sp>
      <p:sp>
        <p:nvSpPr>
          <p:cNvPr id="10" name="Text 8"/>
          <p:cNvSpPr/>
          <p:nvPr/>
        </p:nvSpPr>
        <p:spPr>
          <a:xfrm>
            <a:off x="457200" y="10972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Python 3.x</a:t>
            </a:r>
            <a:endParaRPr lang="en-US" sz="1000" dirty="0"/>
          </a:p>
        </p:txBody>
      </p:sp>
      <p:sp>
        <p:nvSpPr>
          <p:cNvPr id="11" name="Shape 9"/>
          <p:cNvSpPr/>
          <p:nvPr/>
        </p:nvSpPr>
        <p:spPr>
          <a:xfrm>
            <a:off x="2048256" y="8046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2048256" y="804672"/>
            <a:ext cx="1572768" cy="237744"/>
          </a:xfrm>
          <a:prstGeom prst="rect">
            <a:avLst/>
          </a:prstGeom>
          <a:solidFill>
            <a:srgbClr val="065A82"/>
          </a:solidFill>
          <a:ln/>
        </p:spPr>
      </p:sp>
      <p:sp>
        <p:nvSpPr>
          <p:cNvPr id="13" name="Text 11"/>
          <p:cNvSpPr/>
          <p:nvPr/>
        </p:nvSpPr>
        <p:spPr>
          <a:xfrm>
            <a:off x="2048256" y="8321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Test Runner</a:t>
            </a:r>
            <a:endParaRPr lang="en-US" sz="800" dirty="0"/>
          </a:p>
        </p:txBody>
      </p:sp>
      <p:sp>
        <p:nvSpPr>
          <p:cNvPr id="14" name="Text 12"/>
          <p:cNvSpPr/>
          <p:nvPr/>
        </p:nvSpPr>
        <p:spPr>
          <a:xfrm>
            <a:off x="2121408" y="10972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pytest</a:t>
            </a:r>
            <a:endParaRPr lang="en-US" sz="1000" dirty="0"/>
          </a:p>
        </p:txBody>
      </p:sp>
      <p:sp>
        <p:nvSpPr>
          <p:cNvPr id="15" name="Shape 13"/>
          <p:cNvSpPr/>
          <p:nvPr/>
        </p:nvSpPr>
        <p:spPr>
          <a:xfrm>
            <a:off x="3712464" y="8046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3712464" y="804672"/>
            <a:ext cx="1572768" cy="237744"/>
          </a:xfrm>
          <a:prstGeom prst="rect">
            <a:avLst/>
          </a:prstGeom>
          <a:solidFill>
            <a:srgbClr val="1C7293"/>
          </a:solidFill>
          <a:ln/>
        </p:spPr>
      </p:sp>
      <p:sp>
        <p:nvSpPr>
          <p:cNvPr id="17" name="Text 15"/>
          <p:cNvSpPr/>
          <p:nvPr/>
        </p:nvSpPr>
        <p:spPr>
          <a:xfrm>
            <a:off x="3712464" y="8321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AWS SDK</a:t>
            </a:r>
            <a:endParaRPr lang="en-US" sz="800" dirty="0"/>
          </a:p>
        </p:txBody>
      </p:sp>
      <p:sp>
        <p:nvSpPr>
          <p:cNvPr id="18" name="Text 16"/>
          <p:cNvSpPr/>
          <p:nvPr/>
        </p:nvSpPr>
        <p:spPr>
          <a:xfrm>
            <a:off x="3785616" y="10972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boto3 / botocore</a:t>
            </a:r>
            <a:endParaRPr lang="en-US" sz="1000" dirty="0"/>
          </a:p>
        </p:txBody>
      </p:sp>
      <p:sp>
        <p:nvSpPr>
          <p:cNvPr id="19" name="Shape 17"/>
          <p:cNvSpPr/>
          <p:nvPr/>
        </p:nvSpPr>
        <p:spPr>
          <a:xfrm>
            <a:off x="5376672" y="8046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5376672" y="804672"/>
            <a:ext cx="1572768" cy="237744"/>
          </a:xfrm>
          <a:prstGeom prst="rect">
            <a:avLst/>
          </a:prstGeom>
          <a:solidFill>
            <a:srgbClr val="1C7293"/>
          </a:solidFill>
          <a:ln/>
        </p:spPr>
      </p:sp>
      <p:sp>
        <p:nvSpPr>
          <p:cNvPr id="21" name="Text 19"/>
          <p:cNvSpPr/>
          <p:nvPr/>
        </p:nvSpPr>
        <p:spPr>
          <a:xfrm>
            <a:off x="5376672" y="8321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Cloud Emulator</a:t>
            </a:r>
            <a:endParaRPr lang="en-US" sz="800" dirty="0"/>
          </a:p>
        </p:txBody>
      </p:sp>
      <p:sp>
        <p:nvSpPr>
          <p:cNvPr id="22" name="Text 20"/>
          <p:cNvSpPr/>
          <p:nvPr/>
        </p:nvSpPr>
        <p:spPr>
          <a:xfrm>
            <a:off x="5449824" y="10972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LocalStack</a:t>
            </a:r>
            <a:endParaRPr lang="en-US" sz="1000" dirty="0"/>
          </a:p>
        </p:txBody>
      </p:sp>
      <p:sp>
        <p:nvSpPr>
          <p:cNvPr id="23" name="Shape 21"/>
          <p:cNvSpPr/>
          <p:nvPr/>
        </p:nvSpPr>
        <p:spPr>
          <a:xfrm>
            <a:off x="7040880" y="8046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7040880" y="804672"/>
            <a:ext cx="1572768" cy="237744"/>
          </a:xfrm>
          <a:prstGeom prst="rect">
            <a:avLst/>
          </a:prstGeom>
          <a:solidFill>
            <a:srgbClr val="1C7293"/>
          </a:solidFill>
          <a:ln/>
        </p:spPr>
      </p:sp>
      <p:sp>
        <p:nvSpPr>
          <p:cNvPr id="25" name="Text 23"/>
          <p:cNvSpPr/>
          <p:nvPr/>
        </p:nvSpPr>
        <p:spPr>
          <a:xfrm>
            <a:off x="7040880" y="8321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Docker Mgmt</a:t>
            </a:r>
            <a:endParaRPr lang="en-US" sz="800" dirty="0"/>
          </a:p>
        </p:txBody>
      </p:sp>
      <p:sp>
        <p:nvSpPr>
          <p:cNvPr id="26" name="Text 24"/>
          <p:cNvSpPr/>
          <p:nvPr/>
        </p:nvSpPr>
        <p:spPr>
          <a:xfrm>
            <a:off x="7114032" y="10972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Testcontainers</a:t>
            </a:r>
            <a:endParaRPr lang="en-US" sz="1000" dirty="0"/>
          </a:p>
        </p:txBody>
      </p:sp>
      <p:sp>
        <p:nvSpPr>
          <p:cNvPr id="27" name="Shape 25"/>
          <p:cNvSpPr/>
          <p:nvPr/>
        </p:nvSpPr>
        <p:spPr>
          <a:xfrm>
            <a:off x="384048" y="17190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8" name="Shape 26"/>
          <p:cNvSpPr/>
          <p:nvPr/>
        </p:nvSpPr>
        <p:spPr>
          <a:xfrm>
            <a:off x="384048" y="1719072"/>
            <a:ext cx="1572768" cy="237744"/>
          </a:xfrm>
          <a:prstGeom prst="rect">
            <a:avLst/>
          </a:prstGeom>
          <a:solidFill>
            <a:srgbClr val="02C39A"/>
          </a:solidFill>
          <a:ln/>
        </p:spPr>
      </p:sp>
      <p:sp>
        <p:nvSpPr>
          <p:cNvPr id="29" name="Text 27"/>
          <p:cNvSpPr/>
          <p:nvPr/>
        </p:nvSpPr>
        <p:spPr>
          <a:xfrm>
            <a:off x="384048" y="17465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AWS Service</a:t>
            </a:r>
            <a:endParaRPr lang="en-US" sz="800" dirty="0"/>
          </a:p>
        </p:txBody>
      </p:sp>
      <p:sp>
        <p:nvSpPr>
          <p:cNvPr id="30" name="Text 28"/>
          <p:cNvSpPr/>
          <p:nvPr/>
        </p:nvSpPr>
        <p:spPr>
          <a:xfrm>
            <a:off x="457200" y="20116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Amazon Connect</a:t>
            </a:r>
            <a:endParaRPr lang="en-US" sz="1000" dirty="0"/>
          </a:p>
        </p:txBody>
      </p:sp>
      <p:sp>
        <p:nvSpPr>
          <p:cNvPr id="31" name="Shape 29"/>
          <p:cNvSpPr/>
          <p:nvPr/>
        </p:nvSpPr>
        <p:spPr>
          <a:xfrm>
            <a:off x="2048256" y="17190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30"/>
          <p:cNvSpPr/>
          <p:nvPr/>
        </p:nvSpPr>
        <p:spPr>
          <a:xfrm>
            <a:off x="2048256" y="1719072"/>
            <a:ext cx="1572768" cy="237744"/>
          </a:xfrm>
          <a:prstGeom prst="rect">
            <a:avLst/>
          </a:prstGeom>
          <a:solidFill>
            <a:srgbClr val="02C39A"/>
          </a:solidFill>
          <a:ln/>
        </p:spPr>
      </p:sp>
      <p:sp>
        <p:nvSpPr>
          <p:cNvPr id="33" name="Text 31"/>
          <p:cNvSpPr/>
          <p:nvPr/>
        </p:nvSpPr>
        <p:spPr>
          <a:xfrm>
            <a:off x="2048256" y="17465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Call Simulation</a:t>
            </a:r>
            <a:endParaRPr lang="en-US" sz="800" dirty="0"/>
          </a:p>
        </p:txBody>
      </p:sp>
      <p:sp>
        <p:nvSpPr>
          <p:cNvPr id="34" name="Text 32"/>
          <p:cNvSpPr/>
          <p:nvPr/>
        </p:nvSpPr>
        <p:spPr>
          <a:xfrm>
            <a:off x="2121408" y="20116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AWS Chime SDK</a:t>
            </a:r>
            <a:endParaRPr lang="en-US" sz="1000" dirty="0"/>
          </a:p>
        </p:txBody>
      </p:sp>
      <p:sp>
        <p:nvSpPr>
          <p:cNvPr id="35" name="Shape 33"/>
          <p:cNvSpPr/>
          <p:nvPr/>
        </p:nvSpPr>
        <p:spPr>
          <a:xfrm>
            <a:off x="3712464" y="17190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6" name="Shape 34"/>
          <p:cNvSpPr/>
          <p:nvPr/>
        </p:nvSpPr>
        <p:spPr>
          <a:xfrm>
            <a:off x="3712464" y="1719072"/>
            <a:ext cx="1572768" cy="237744"/>
          </a:xfrm>
          <a:prstGeom prst="rect">
            <a:avLst/>
          </a:prstGeom>
          <a:solidFill>
            <a:srgbClr val="02C39A"/>
          </a:solidFill>
          <a:ln/>
        </p:spPr>
      </p:sp>
      <p:sp>
        <p:nvSpPr>
          <p:cNvPr id="37" name="Text 35"/>
          <p:cNvSpPr/>
          <p:nvPr/>
        </p:nvSpPr>
        <p:spPr>
          <a:xfrm>
            <a:off x="3712464" y="17465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NLU / Chatbot</a:t>
            </a:r>
            <a:endParaRPr lang="en-US" sz="800" dirty="0"/>
          </a:p>
        </p:txBody>
      </p:sp>
      <p:sp>
        <p:nvSpPr>
          <p:cNvPr id="38" name="Text 36"/>
          <p:cNvSpPr/>
          <p:nvPr/>
        </p:nvSpPr>
        <p:spPr>
          <a:xfrm>
            <a:off x="3785616" y="20116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Amazon Lex V2</a:t>
            </a:r>
            <a:endParaRPr lang="en-US" sz="1000" dirty="0"/>
          </a:p>
        </p:txBody>
      </p:sp>
      <p:sp>
        <p:nvSpPr>
          <p:cNvPr id="39" name="Shape 37"/>
          <p:cNvSpPr/>
          <p:nvPr/>
        </p:nvSpPr>
        <p:spPr>
          <a:xfrm>
            <a:off x="5376672" y="17190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0" name="Shape 38"/>
          <p:cNvSpPr/>
          <p:nvPr/>
        </p:nvSpPr>
        <p:spPr>
          <a:xfrm>
            <a:off x="5376672" y="1719072"/>
            <a:ext cx="1572768" cy="237744"/>
          </a:xfrm>
          <a:prstGeom prst="rect">
            <a:avLst/>
          </a:prstGeom>
          <a:solidFill>
            <a:srgbClr val="065A82"/>
          </a:solidFill>
          <a:ln/>
        </p:spPr>
      </p:sp>
      <p:sp>
        <p:nvSpPr>
          <p:cNvPr id="41" name="Text 39"/>
          <p:cNvSpPr/>
          <p:nvPr/>
        </p:nvSpPr>
        <p:spPr>
          <a:xfrm>
            <a:off x="5376672" y="17465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Serverless</a:t>
            </a:r>
            <a:endParaRPr lang="en-US" sz="800" dirty="0"/>
          </a:p>
        </p:txBody>
      </p:sp>
      <p:sp>
        <p:nvSpPr>
          <p:cNvPr id="42" name="Text 40"/>
          <p:cNvSpPr/>
          <p:nvPr/>
        </p:nvSpPr>
        <p:spPr>
          <a:xfrm>
            <a:off x="5449824" y="20116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AWS Lambda</a:t>
            </a:r>
            <a:endParaRPr lang="en-US" sz="1000" dirty="0"/>
          </a:p>
        </p:txBody>
      </p:sp>
      <p:sp>
        <p:nvSpPr>
          <p:cNvPr id="43" name="Shape 41"/>
          <p:cNvSpPr/>
          <p:nvPr/>
        </p:nvSpPr>
        <p:spPr>
          <a:xfrm>
            <a:off x="7040880" y="17190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4" name="Shape 42"/>
          <p:cNvSpPr/>
          <p:nvPr/>
        </p:nvSpPr>
        <p:spPr>
          <a:xfrm>
            <a:off x="7040880" y="1719072"/>
            <a:ext cx="1572768" cy="237744"/>
          </a:xfrm>
          <a:prstGeom prst="rect">
            <a:avLst/>
          </a:prstGeom>
          <a:solidFill>
            <a:srgbClr val="1C7293"/>
          </a:solidFill>
          <a:ln/>
        </p:spPr>
      </p:sp>
      <p:sp>
        <p:nvSpPr>
          <p:cNvPr id="45" name="Text 43"/>
          <p:cNvSpPr/>
          <p:nvPr/>
        </p:nvSpPr>
        <p:spPr>
          <a:xfrm>
            <a:off x="7040880" y="17465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NoSQL DB</a:t>
            </a:r>
            <a:endParaRPr lang="en-US" sz="800" dirty="0"/>
          </a:p>
        </p:txBody>
      </p:sp>
      <p:sp>
        <p:nvSpPr>
          <p:cNvPr id="46" name="Text 44"/>
          <p:cNvSpPr/>
          <p:nvPr/>
        </p:nvSpPr>
        <p:spPr>
          <a:xfrm>
            <a:off x="7114032" y="20116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Amazon DynamoDB</a:t>
            </a:r>
            <a:endParaRPr lang="en-US" sz="1000" dirty="0"/>
          </a:p>
        </p:txBody>
      </p:sp>
      <p:sp>
        <p:nvSpPr>
          <p:cNvPr id="47" name="Shape 45"/>
          <p:cNvSpPr/>
          <p:nvPr/>
        </p:nvSpPr>
        <p:spPr>
          <a:xfrm>
            <a:off x="384048" y="26334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8" name="Shape 46"/>
          <p:cNvSpPr/>
          <p:nvPr/>
        </p:nvSpPr>
        <p:spPr>
          <a:xfrm>
            <a:off x="384048" y="2633472"/>
            <a:ext cx="1572768" cy="237744"/>
          </a:xfrm>
          <a:prstGeom prst="rect">
            <a:avLst/>
          </a:prstGeom>
          <a:solidFill>
            <a:srgbClr val="1C7293"/>
          </a:solidFill>
          <a:ln/>
        </p:spPr>
      </p:sp>
      <p:sp>
        <p:nvSpPr>
          <p:cNvPr id="49" name="Text 47"/>
          <p:cNvSpPr/>
          <p:nvPr/>
        </p:nvSpPr>
        <p:spPr>
          <a:xfrm>
            <a:off x="384048" y="26609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Object Storage</a:t>
            </a:r>
            <a:endParaRPr lang="en-US" sz="800" dirty="0"/>
          </a:p>
        </p:txBody>
      </p:sp>
      <p:sp>
        <p:nvSpPr>
          <p:cNvPr id="50" name="Text 48"/>
          <p:cNvSpPr/>
          <p:nvPr/>
        </p:nvSpPr>
        <p:spPr>
          <a:xfrm>
            <a:off x="457200" y="29260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Amazon S3</a:t>
            </a:r>
            <a:endParaRPr lang="en-US" sz="1000" dirty="0"/>
          </a:p>
        </p:txBody>
      </p:sp>
      <p:sp>
        <p:nvSpPr>
          <p:cNvPr id="51" name="Shape 49"/>
          <p:cNvSpPr/>
          <p:nvPr/>
        </p:nvSpPr>
        <p:spPr>
          <a:xfrm>
            <a:off x="2048256" y="26334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2" name="Shape 50"/>
          <p:cNvSpPr/>
          <p:nvPr/>
        </p:nvSpPr>
        <p:spPr>
          <a:xfrm>
            <a:off x="2048256" y="2633472"/>
            <a:ext cx="1572768" cy="237744"/>
          </a:xfrm>
          <a:prstGeom prst="rect">
            <a:avLst/>
          </a:prstGeom>
          <a:solidFill>
            <a:srgbClr val="02C39A"/>
          </a:solidFill>
          <a:ln/>
        </p:spPr>
      </p:sp>
      <p:sp>
        <p:nvSpPr>
          <p:cNvPr id="53" name="Text 51"/>
          <p:cNvSpPr/>
          <p:nvPr/>
        </p:nvSpPr>
        <p:spPr>
          <a:xfrm>
            <a:off x="2048256" y="26609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Observability</a:t>
            </a:r>
            <a:endParaRPr lang="en-US" sz="800" dirty="0"/>
          </a:p>
        </p:txBody>
      </p:sp>
      <p:sp>
        <p:nvSpPr>
          <p:cNvPr id="54" name="Text 52"/>
          <p:cNvSpPr/>
          <p:nvPr/>
        </p:nvSpPr>
        <p:spPr>
          <a:xfrm>
            <a:off x="2121408" y="29260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CloudWatch Logs</a:t>
            </a:r>
            <a:endParaRPr lang="en-US" sz="1000" dirty="0"/>
          </a:p>
        </p:txBody>
      </p:sp>
      <p:sp>
        <p:nvSpPr>
          <p:cNvPr id="55" name="Shape 53"/>
          <p:cNvSpPr/>
          <p:nvPr/>
        </p:nvSpPr>
        <p:spPr>
          <a:xfrm>
            <a:off x="3712464" y="26334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6" name="Shape 54"/>
          <p:cNvSpPr/>
          <p:nvPr/>
        </p:nvSpPr>
        <p:spPr>
          <a:xfrm>
            <a:off x="3712464" y="2633472"/>
            <a:ext cx="1572768" cy="237744"/>
          </a:xfrm>
          <a:prstGeom prst="rect">
            <a:avLst/>
          </a:prstGeom>
          <a:solidFill>
            <a:srgbClr val="065A82"/>
          </a:solidFill>
          <a:ln/>
        </p:spPr>
      </p:sp>
      <p:sp>
        <p:nvSpPr>
          <p:cNvPr id="57" name="Text 55"/>
          <p:cNvSpPr/>
          <p:nvPr/>
        </p:nvSpPr>
        <p:spPr>
          <a:xfrm>
            <a:off x="3712464" y="26609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CI/CD</a:t>
            </a:r>
            <a:endParaRPr lang="en-US" sz="800" dirty="0"/>
          </a:p>
        </p:txBody>
      </p:sp>
      <p:sp>
        <p:nvSpPr>
          <p:cNvPr id="58" name="Text 56"/>
          <p:cNvSpPr/>
          <p:nvPr/>
        </p:nvSpPr>
        <p:spPr>
          <a:xfrm>
            <a:off x="3785616" y="29260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GitHub Actions</a:t>
            </a:r>
            <a:endParaRPr lang="en-US" sz="1000" dirty="0"/>
          </a:p>
        </p:txBody>
      </p:sp>
      <p:sp>
        <p:nvSpPr>
          <p:cNvPr id="59" name="Shape 57"/>
          <p:cNvSpPr/>
          <p:nvPr/>
        </p:nvSpPr>
        <p:spPr>
          <a:xfrm>
            <a:off x="5376672" y="26334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0" name="Shape 58"/>
          <p:cNvSpPr/>
          <p:nvPr/>
        </p:nvSpPr>
        <p:spPr>
          <a:xfrm>
            <a:off x="5376672" y="2633472"/>
            <a:ext cx="1572768" cy="237744"/>
          </a:xfrm>
          <a:prstGeom prst="rect">
            <a:avLst/>
          </a:prstGeom>
          <a:solidFill>
            <a:srgbClr val="F0A500"/>
          </a:solidFill>
          <a:ln/>
        </p:spPr>
      </p:sp>
      <p:sp>
        <p:nvSpPr>
          <p:cNvPr id="61" name="Text 59"/>
          <p:cNvSpPr/>
          <p:nvPr/>
        </p:nvSpPr>
        <p:spPr>
          <a:xfrm>
            <a:off x="5376672" y="26609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Reporting</a:t>
            </a:r>
            <a:endParaRPr lang="en-US" sz="800" dirty="0"/>
          </a:p>
        </p:txBody>
      </p:sp>
      <p:sp>
        <p:nvSpPr>
          <p:cNvPr id="62" name="Text 60"/>
          <p:cNvSpPr/>
          <p:nvPr/>
        </p:nvSpPr>
        <p:spPr>
          <a:xfrm>
            <a:off x="5449824" y="29260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pytest-html</a:t>
            </a:r>
            <a:endParaRPr lang="en-US" sz="1000" dirty="0"/>
          </a:p>
        </p:txBody>
      </p:sp>
      <p:sp>
        <p:nvSpPr>
          <p:cNvPr id="63" name="Shape 61"/>
          <p:cNvSpPr/>
          <p:nvPr/>
        </p:nvSpPr>
        <p:spPr>
          <a:xfrm>
            <a:off x="7040880" y="2633472"/>
            <a:ext cx="1572768"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4" name="Shape 62"/>
          <p:cNvSpPr/>
          <p:nvPr/>
        </p:nvSpPr>
        <p:spPr>
          <a:xfrm>
            <a:off x="7040880" y="2633472"/>
            <a:ext cx="1572768" cy="237744"/>
          </a:xfrm>
          <a:prstGeom prst="rect">
            <a:avLst/>
          </a:prstGeom>
          <a:solidFill>
            <a:srgbClr val="F0A500"/>
          </a:solidFill>
          <a:ln/>
        </p:spPr>
      </p:sp>
      <p:sp>
        <p:nvSpPr>
          <p:cNvPr id="65" name="Text 63"/>
          <p:cNvSpPr/>
          <p:nvPr/>
        </p:nvSpPr>
        <p:spPr>
          <a:xfrm>
            <a:off x="7040880" y="2660904"/>
            <a:ext cx="15727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Config</a:t>
            </a:r>
            <a:endParaRPr lang="en-US" sz="800" dirty="0"/>
          </a:p>
        </p:txBody>
      </p:sp>
      <p:sp>
        <p:nvSpPr>
          <p:cNvPr id="66" name="Text 64"/>
          <p:cNvSpPr/>
          <p:nvPr/>
        </p:nvSpPr>
        <p:spPr>
          <a:xfrm>
            <a:off x="7114032" y="2926080"/>
            <a:ext cx="1426464" cy="438912"/>
          </a:xfrm>
          <a:prstGeom prst="rect">
            <a:avLst/>
          </a:prstGeom>
          <a:noFill/>
          <a:ln/>
        </p:spPr>
        <p:txBody>
          <a:bodyPr wrap="square" lIns="0" tIns="0" rIns="0" bIns="0" rtlCol="0" anchor="ctr"/>
          <a:lstStyle/>
          <a:p>
            <a:pPr algn="ctr" indent="0" marL="0">
              <a:lnSpc>
                <a:spcPct val="120000"/>
              </a:lnSpc>
              <a:buNone/>
            </a:pPr>
            <a:r>
              <a:rPr lang="en-US" sz="1000" b="1" dirty="0">
                <a:solidFill>
                  <a:srgbClr val="0A2342"/>
                </a:solidFill>
                <a:latin typeface="Calibri" pitchFamily="34" charset="0"/>
                <a:ea typeface="Calibri" pitchFamily="34" charset="-122"/>
                <a:cs typeface="Calibri" pitchFamily="34" charset="-120"/>
              </a:rPr>
              <a:t>python-dotenv</a:t>
            </a:r>
            <a:endParaRPr lang="en-US" sz="1000" dirty="0"/>
          </a:p>
        </p:txBody>
      </p:sp>
      <p:sp>
        <p:nvSpPr>
          <p:cNvPr id="67" name="Shape 65"/>
          <p:cNvSpPr/>
          <p:nvPr/>
        </p:nvSpPr>
        <p:spPr>
          <a:xfrm>
            <a:off x="457200" y="3621024"/>
            <a:ext cx="1883664" cy="1005840"/>
          </a:xfrm>
          <a:prstGeom prst="rect">
            <a:avLst/>
          </a:prstGeom>
          <a:solidFill>
            <a:srgbClr val="065A82"/>
          </a:solidFill>
          <a:ln/>
          <a:effectLst>
            <a:outerShdw sx="100000" sy="100000" kx="0" ky="0" algn="bl" rotWithShape="0" blurRad="101600" dist="38100" dir="8100000">
              <a:srgbClr val="000000">
                <a:alpha val="12000"/>
              </a:srgbClr>
            </a:outerShdw>
          </a:effectLst>
        </p:spPr>
      </p:sp>
      <p:pic>
        <p:nvPicPr>
          <p:cNvPr id="68" name="Image 0" descr="preencoded.png">    </p:cNvPr>
          <p:cNvPicPr>
            <a:picLocks noChangeAspect="1"/>
          </p:cNvPicPr>
          <p:nvPr/>
        </p:nvPicPr>
        <p:blipFill>
          <a:blip r:embed="rId1"/>
          <a:stretch>
            <a:fillRect/>
          </a:stretch>
        </p:blipFill>
        <p:spPr>
          <a:xfrm>
            <a:off x="1179576" y="3694176"/>
            <a:ext cx="310896" cy="310896"/>
          </a:xfrm>
          <a:prstGeom prst="rect">
            <a:avLst/>
          </a:prstGeom>
        </p:spPr>
      </p:pic>
      <p:sp>
        <p:nvSpPr>
          <p:cNvPr id="69" name="Text 66"/>
          <p:cNvSpPr/>
          <p:nvPr/>
        </p:nvSpPr>
        <p:spPr>
          <a:xfrm>
            <a:off x="530352" y="4059936"/>
            <a:ext cx="17373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Zero cloud cost</a:t>
            </a:r>
            <a:endParaRPr lang="en-US" sz="1000" dirty="0"/>
          </a:p>
        </p:txBody>
      </p:sp>
      <p:sp>
        <p:nvSpPr>
          <p:cNvPr id="70" name="Text 67"/>
          <p:cNvSpPr/>
          <p:nvPr/>
        </p:nvSpPr>
        <p:spPr>
          <a:xfrm>
            <a:off x="530352" y="4334256"/>
            <a:ext cx="1737360" cy="219456"/>
          </a:xfrm>
          <a:prstGeom prst="rect">
            <a:avLst/>
          </a:prstGeom>
          <a:noFill/>
          <a:ln/>
        </p:spPr>
        <p:txBody>
          <a:bodyPr wrap="square" lIns="0" tIns="0" rIns="0" bIns="0" rtlCol="0" anchor="ctr"/>
          <a:lstStyle/>
          <a:p>
            <a:pPr algn="ctr" indent="0" marL="0">
              <a:buNone/>
            </a:pPr>
            <a:r>
              <a:rPr lang="en-US" sz="850" i="1" dirty="0">
                <a:solidFill>
                  <a:srgbClr val="B8D4E8"/>
                </a:solidFill>
                <a:latin typeface="Calibri" pitchFamily="34" charset="0"/>
                <a:ea typeface="Calibri" pitchFamily="34" charset="-122"/>
                <a:cs typeface="Calibri" pitchFamily="34" charset="-120"/>
              </a:rPr>
              <a:t>local &amp; CI mode</a:t>
            </a:r>
            <a:endParaRPr lang="en-US" sz="850" dirty="0"/>
          </a:p>
        </p:txBody>
      </p:sp>
      <p:sp>
        <p:nvSpPr>
          <p:cNvPr id="71" name="Shape 68"/>
          <p:cNvSpPr/>
          <p:nvPr/>
        </p:nvSpPr>
        <p:spPr>
          <a:xfrm>
            <a:off x="2542032" y="3621024"/>
            <a:ext cx="1883664" cy="1005840"/>
          </a:xfrm>
          <a:prstGeom prst="rect">
            <a:avLst/>
          </a:prstGeom>
          <a:solidFill>
            <a:srgbClr val="1C7293"/>
          </a:solidFill>
          <a:ln/>
          <a:effectLst>
            <a:outerShdw sx="100000" sy="100000" kx="0" ky="0" algn="bl" rotWithShape="0" blurRad="101600" dist="38100" dir="8100000">
              <a:srgbClr val="000000">
                <a:alpha val="12000"/>
              </a:srgbClr>
            </a:outerShdw>
          </a:effectLst>
        </p:spPr>
      </p:sp>
      <p:pic>
        <p:nvPicPr>
          <p:cNvPr id="72" name="Image 1" descr="preencoded.png">    </p:cNvPr>
          <p:cNvPicPr>
            <a:picLocks noChangeAspect="1"/>
          </p:cNvPicPr>
          <p:nvPr/>
        </p:nvPicPr>
        <p:blipFill>
          <a:blip r:embed="rId2"/>
          <a:stretch>
            <a:fillRect/>
          </a:stretch>
        </p:blipFill>
        <p:spPr>
          <a:xfrm>
            <a:off x="3264408" y="3694176"/>
            <a:ext cx="310896" cy="310896"/>
          </a:xfrm>
          <a:prstGeom prst="rect">
            <a:avLst/>
          </a:prstGeom>
        </p:spPr>
      </p:pic>
      <p:sp>
        <p:nvSpPr>
          <p:cNvPr id="73" name="Text 69"/>
          <p:cNvSpPr/>
          <p:nvPr/>
        </p:nvSpPr>
        <p:spPr>
          <a:xfrm>
            <a:off x="2615184" y="4059936"/>
            <a:ext cx="17373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pytest native</a:t>
            </a:r>
            <a:endParaRPr lang="en-US" sz="1000" dirty="0"/>
          </a:p>
        </p:txBody>
      </p:sp>
      <p:sp>
        <p:nvSpPr>
          <p:cNvPr id="74" name="Text 70"/>
          <p:cNvSpPr/>
          <p:nvPr/>
        </p:nvSpPr>
        <p:spPr>
          <a:xfrm>
            <a:off x="2615184" y="4334256"/>
            <a:ext cx="1737360" cy="219456"/>
          </a:xfrm>
          <a:prstGeom prst="rect">
            <a:avLst/>
          </a:prstGeom>
          <a:noFill/>
          <a:ln/>
        </p:spPr>
        <p:txBody>
          <a:bodyPr wrap="square" lIns="0" tIns="0" rIns="0" bIns="0" rtlCol="0" anchor="ctr"/>
          <a:lstStyle/>
          <a:p>
            <a:pPr algn="ctr" indent="0" marL="0">
              <a:buNone/>
            </a:pPr>
            <a:r>
              <a:rPr lang="en-US" sz="850" i="1" dirty="0">
                <a:solidFill>
                  <a:srgbClr val="B8D4E8"/>
                </a:solidFill>
                <a:latin typeface="Calibri" pitchFamily="34" charset="0"/>
                <a:ea typeface="Calibri" pitchFamily="34" charset="-122"/>
                <a:cs typeface="Calibri" pitchFamily="34" charset="-120"/>
              </a:rPr>
              <a:t>familiar toolchain</a:t>
            </a:r>
            <a:endParaRPr lang="en-US" sz="850" dirty="0"/>
          </a:p>
        </p:txBody>
      </p:sp>
      <p:sp>
        <p:nvSpPr>
          <p:cNvPr id="75" name="Shape 71"/>
          <p:cNvSpPr/>
          <p:nvPr/>
        </p:nvSpPr>
        <p:spPr>
          <a:xfrm>
            <a:off x="4626864" y="3621024"/>
            <a:ext cx="1883664" cy="1005840"/>
          </a:xfrm>
          <a:prstGeom prst="rect">
            <a:avLst/>
          </a:prstGeom>
          <a:solidFill>
            <a:srgbClr val="065A82"/>
          </a:solidFill>
          <a:ln/>
          <a:effectLst>
            <a:outerShdw sx="100000" sy="100000" kx="0" ky="0" algn="bl" rotWithShape="0" blurRad="101600" dist="38100" dir="8100000">
              <a:srgbClr val="000000">
                <a:alpha val="12000"/>
              </a:srgbClr>
            </a:outerShdw>
          </a:effectLst>
        </p:spPr>
      </p:sp>
      <p:pic>
        <p:nvPicPr>
          <p:cNvPr id="76" name="Image 2" descr="preencoded.png">    </p:cNvPr>
          <p:cNvPicPr>
            <a:picLocks noChangeAspect="1"/>
          </p:cNvPicPr>
          <p:nvPr/>
        </p:nvPicPr>
        <p:blipFill>
          <a:blip r:embed="rId3"/>
          <a:stretch>
            <a:fillRect/>
          </a:stretch>
        </p:blipFill>
        <p:spPr>
          <a:xfrm>
            <a:off x="5349240" y="3694176"/>
            <a:ext cx="310896" cy="310896"/>
          </a:xfrm>
          <a:prstGeom prst="rect">
            <a:avLst/>
          </a:prstGeom>
        </p:spPr>
      </p:pic>
      <p:sp>
        <p:nvSpPr>
          <p:cNvPr id="77" name="Text 72"/>
          <p:cNvSpPr/>
          <p:nvPr/>
        </p:nvSpPr>
        <p:spPr>
          <a:xfrm>
            <a:off x="4700016" y="4059936"/>
            <a:ext cx="17373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Docker emulation</a:t>
            </a:r>
            <a:endParaRPr lang="en-US" sz="1000" dirty="0"/>
          </a:p>
        </p:txBody>
      </p:sp>
      <p:sp>
        <p:nvSpPr>
          <p:cNvPr id="78" name="Text 73"/>
          <p:cNvSpPr/>
          <p:nvPr/>
        </p:nvSpPr>
        <p:spPr>
          <a:xfrm>
            <a:off x="4700016" y="4334256"/>
            <a:ext cx="1737360" cy="219456"/>
          </a:xfrm>
          <a:prstGeom prst="rect">
            <a:avLst/>
          </a:prstGeom>
          <a:noFill/>
          <a:ln/>
        </p:spPr>
        <p:txBody>
          <a:bodyPr wrap="square" lIns="0" tIns="0" rIns="0" bIns="0" rtlCol="0" anchor="ctr"/>
          <a:lstStyle/>
          <a:p>
            <a:pPr algn="ctr" indent="0" marL="0">
              <a:buNone/>
            </a:pPr>
            <a:r>
              <a:rPr lang="en-US" sz="850" i="1" dirty="0">
                <a:solidFill>
                  <a:srgbClr val="B8D4E8"/>
                </a:solidFill>
                <a:latin typeface="Calibri" pitchFamily="34" charset="0"/>
                <a:ea typeface="Calibri" pitchFamily="34" charset="-122"/>
                <a:cs typeface="Calibri" pitchFamily="34" charset="-120"/>
              </a:rPr>
              <a:t>LocalStack powered</a:t>
            </a:r>
            <a:endParaRPr lang="en-US" sz="850" dirty="0"/>
          </a:p>
        </p:txBody>
      </p:sp>
      <p:sp>
        <p:nvSpPr>
          <p:cNvPr id="79" name="Shape 74"/>
          <p:cNvSpPr/>
          <p:nvPr/>
        </p:nvSpPr>
        <p:spPr>
          <a:xfrm>
            <a:off x="6711696" y="3621024"/>
            <a:ext cx="1883664" cy="1005840"/>
          </a:xfrm>
          <a:prstGeom prst="rect">
            <a:avLst/>
          </a:prstGeom>
          <a:solidFill>
            <a:srgbClr val="1C7293"/>
          </a:solidFill>
          <a:ln/>
          <a:effectLst>
            <a:outerShdw sx="100000" sy="100000" kx="0" ky="0" algn="bl" rotWithShape="0" blurRad="101600" dist="38100" dir="8100000">
              <a:srgbClr val="000000">
                <a:alpha val="12000"/>
              </a:srgbClr>
            </a:outerShdw>
          </a:effectLst>
        </p:spPr>
      </p:sp>
      <p:pic>
        <p:nvPicPr>
          <p:cNvPr id="80" name="Image 3" descr="preencoded.png">    </p:cNvPr>
          <p:cNvPicPr>
            <a:picLocks noChangeAspect="1"/>
          </p:cNvPicPr>
          <p:nvPr/>
        </p:nvPicPr>
        <p:blipFill>
          <a:blip r:embed="rId4"/>
          <a:stretch>
            <a:fillRect/>
          </a:stretch>
        </p:blipFill>
        <p:spPr>
          <a:xfrm>
            <a:off x="7434072" y="3694176"/>
            <a:ext cx="310896" cy="310896"/>
          </a:xfrm>
          <a:prstGeom prst="rect">
            <a:avLst/>
          </a:prstGeom>
        </p:spPr>
      </p:pic>
      <p:sp>
        <p:nvSpPr>
          <p:cNvPr id="81" name="Text 75"/>
          <p:cNvSpPr/>
          <p:nvPr/>
        </p:nvSpPr>
        <p:spPr>
          <a:xfrm>
            <a:off x="6784848" y="4059936"/>
            <a:ext cx="17373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JSON-driven tests</a:t>
            </a:r>
            <a:endParaRPr lang="en-US" sz="1000" dirty="0"/>
          </a:p>
        </p:txBody>
      </p:sp>
      <p:sp>
        <p:nvSpPr>
          <p:cNvPr id="82" name="Text 76"/>
          <p:cNvSpPr/>
          <p:nvPr/>
        </p:nvSpPr>
        <p:spPr>
          <a:xfrm>
            <a:off x="6784848" y="4334256"/>
            <a:ext cx="1737360" cy="219456"/>
          </a:xfrm>
          <a:prstGeom prst="rect">
            <a:avLst/>
          </a:prstGeom>
          <a:noFill/>
          <a:ln/>
        </p:spPr>
        <p:txBody>
          <a:bodyPr wrap="square" lIns="0" tIns="0" rIns="0" bIns="0" rtlCol="0" anchor="ctr"/>
          <a:lstStyle/>
          <a:p>
            <a:pPr algn="ctr" indent="0" marL="0">
              <a:buNone/>
            </a:pPr>
            <a:r>
              <a:rPr lang="en-US" sz="850" i="1" dirty="0">
                <a:solidFill>
                  <a:srgbClr val="B8D4E8"/>
                </a:solidFill>
                <a:latin typeface="Calibri" pitchFamily="34" charset="0"/>
                <a:ea typeface="Calibri" pitchFamily="34" charset="-122"/>
                <a:cs typeface="Calibri" pitchFamily="34" charset="-120"/>
              </a:rPr>
              <a:t>no Python required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5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65A82"/>
          </a:solidFill>
          <a:ln/>
        </p:spPr>
      </p:sp>
      <p:sp>
        <p:nvSpPr>
          <p:cNvPr id="3" name="Text 1"/>
          <p:cNvSpPr/>
          <p:nvPr/>
        </p:nvSpPr>
        <p:spPr>
          <a:xfrm>
            <a:off x="411480" y="64008"/>
            <a:ext cx="77724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Test Coverage Overview</a:t>
            </a:r>
            <a:endParaRPr lang="en-US" sz="2200" dirty="0"/>
          </a:p>
        </p:txBody>
      </p:sp>
      <p:sp>
        <p:nvSpPr>
          <p:cNvPr id="4" name="Text 2"/>
          <p:cNvSpPr/>
          <p:nvPr/>
        </p:nvSpPr>
        <p:spPr>
          <a:xfrm>
            <a:off x="411480" y="530352"/>
            <a:ext cx="8321040" cy="292608"/>
          </a:xfrm>
          <a:prstGeom prst="rect">
            <a:avLst/>
          </a:prstGeom>
          <a:noFill/>
          <a:ln/>
        </p:spPr>
        <p:txBody>
          <a:bodyPr wrap="square" lIns="0" tIns="0" rIns="0" bIns="0" rtlCol="0" anchor="ctr"/>
          <a:lstStyle/>
          <a:p>
            <a:pPr indent="0" marL="0">
              <a:buNone/>
            </a:pPr>
            <a:r>
              <a:rPr lang="en-US" sz="1100" i="1" dirty="0">
                <a:solidFill>
                  <a:srgbClr val="2C5F7A"/>
                </a:solidFill>
                <a:latin typeface="Calibri" pitchFamily="34" charset="0"/>
                <a:ea typeface="Calibri" pitchFamily="34" charset="-122"/>
                <a:cs typeface="Calibri" pitchFamily="34" charset="-120"/>
              </a:rPr>
              <a:t>What is tested and validated across all three modules</a:t>
            </a:r>
            <a:endParaRPr lang="en-US" sz="1100" dirty="0"/>
          </a:p>
        </p:txBody>
      </p:sp>
      <p:sp>
        <p:nvSpPr>
          <p:cNvPr id="5" name="Shape 3"/>
          <p:cNvSpPr/>
          <p:nvPr/>
        </p:nvSpPr>
        <p:spPr>
          <a:xfrm>
            <a:off x="0" y="4892040"/>
            <a:ext cx="9144000" cy="251460"/>
          </a:xfrm>
          <a:prstGeom prst="rect">
            <a:avLst/>
          </a:prstGeom>
          <a:solidFill>
            <a:srgbClr val="065A82"/>
          </a:solidFill>
          <a:ln/>
        </p:spPr>
      </p:sp>
      <p:sp>
        <p:nvSpPr>
          <p:cNvPr id="6" name="Text 4"/>
          <p:cNvSpPr/>
          <p:nvPr/>
        </p:nvSpPr>
        <p:spPr>
          <a:xfrm>
            <a:off x="457200" y="4901184"/>
            <a:ext cx="7315200" cy="228600"/>
          </a:xfrm>
          <a:prstGeom prst="rect">
            <a:avLst/>
          </a:prstGeom>
          <a:noFill/>
          <a:ln/>
        </p:spPr>
        <p:txBody>
          <a:bodyPr wrap="square" lIns="0" tIns="0" rIns="0" bIns="0" rtlCol="0" anchor="ctr"/>
          <a:lstStyle/>
          <a:p>
            <a:pPr indent="0" marL="0">
              <a:buNone/>
            </a:pPr>
            <a:r>
              <a:rPr lang="en-US" sz="800" dirty="0">
                <a:solidFill>
                  <a:srgbClr val="B8D4E8"/>
                </a:solidFill>
                <a:latin typeface="Calibri" pitchFamily="34" charset="0"/>
                <a:ea typeface="Calibri" pitchFamily="34" charset="-122"/>
                <a:cs typeface="Calibri" pitchFamily="34" charset="-120"/>
              </a:rPr>
              <a:t>Amazon Connect Automation Testing Framework  |  Confidential</a:t>
            </a:r>
            <a:endParaRPr lang="en-US" sz="800" dirty="0"/>
          </a:p>
        </p:txBody>
      </p:sp>
      <p:sp>
        <p:nvSpPr>
          <p:cNvPr id="7" name="Shape 5"/>
          <p:cNvSpPr/>
          <p:nvPr/>
        </p:nvSpPr>
        <p:spPr>
          <a:xfrm>
            <a:off x="320040" y="713232"/>
            <a:ext cx="2788920" cy="384048"/>
          </a:xfrm>
          <a:prstGeom prst="rect">
            <a:avLst/>
          </a:prstGeom>
          <a:solidFill>
            <a:srgbClr val="065A82"/>
          </a:solidFill>
          <a:ln/>
        </p:spPr>
      </p:sp>
      <p:sp>
        <p:nvSpPr>
          <p:cNvPr id="8" name="Text 6"/>
          <p:cNvSpPr/>
          <p:nvPr/>
        </p:nvSpPr>
        <p:spPr>
          <a:xfrm>
            <a:off x="411480" y="713232"/>
            <a:ext cx="26060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Voice Flows</a:t>
            </a:r>
            <a:endParaRPr lang="en-US" sz="1300" dirty="0"/>
          </a:p>
        </p:txBody>
      </p:sp>
      <p:sp>
        <p:nvSpPr>
          <p:cNvPr id="9" name="Shape 7"/>
          <p:cNvSpPr/>
          <p:nvPr/>
        </p:nvSpPr>
        <p:spPr>
          <a:xfrm>
            <a:off x="320040" y="1097280"/>
            <a:ext cx="2788920" cy="3602736"/>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0" name="Image 0" descr="preencoded.png">    </p:cNvPr>
          <p:cNvPicPr>
            <a:picLocks noChangeAspect="1"/>
          </p:cNvPicPr>
          <p:nvPr/>
        </p:nvPicPr>
        <p:blipFill>
          <a:blip r:embed="rId1"/>
          <a:stretch>
            <a:fillRect/>
          </a:stretch>
        </p:blipFill>
        <p:spPr>
          <a:xfrm>
            <a:off x="429768" y="1170432"/>
            <a:ext cx="201168" cy="201168"/>
          </a:xfrm>
          <a:prstGeom prst="rect">
            <a:avLst/>
          </a:prstGeom>
        </p:spPr>
      </p:pic>
      <p:sp>
        <p:nvSpPr>
          <p:cNvPr id="11" name="Text 8"/>
          <p:cNvSpPr/>
          <p:nvPr/>
        </p:nvSpPr>
        <p:spPr>
          <a:xfrm>
            <a:off x="685800" y="117043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Happy path – first call (DTMF 1)</a:t>
            </a:r>
            <a:endParaRPr lang="en-US" sz="850" dirty="0"/>
          </a:p>
        </p:txBody>
      </p:sp>
      <p:pic>
        <p:nvPicPr>
          <p:cNvPr id="12" name="Image 1" descr="preencoded.png">    </p:cNvPr>
          <p:cNvPicPr>
            <a:picLocks noChangeAspect="1"/>
          </p:cNvPicPr>
          <p:nvPr/>
        </p:nvPicPr>
        <p:blipFill>
          <a:blip r:embed="rId2"/>
          <a:stretch>
            <a:fillRect/>
          </a:stretch>
        </p:blipFill>
        <p:spPr>
          <a:xfrm>
            <a:off x="429768" y="1444752"/>
            <a:ext cx="201168" cy="201168"/>
          </a:xfrm>
          <a:prstGeom prst="rect">
            <a:avLst/>
          </a:prstGeom>
        </p:spPr>
      </p:pic>
      <p:sp>
        <p:nvSpPr>
          <p:cNvPr id="13" name="Text 9"/>
          <p:cNvSpPr/>
          <p:nvPr/>
        </p:nvSpPr>
        <p:spPr>
          <a:xfrm>
            <a:off x="685800" y="144475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Returning caller skip-greeting</a:t>
            </a:r>
            <a:endParaRPr lang="en-US" sz="850" dirty="0"/>
          </a:p>
        </p:txBody>
      </p:sp>
      <p:pic>
        <p:nvPicPr>
          <p:cNvPr id="14" name="Image 2" descr="preencoded.png">    </p:cNvPr>
          <p:cNvPicPr>
            <a:picLocks noChangeAspect="1"/>
          </p:cNvPicPr>
          <p:nvPr/>
        </p:nvPicPr>
        <p:blipFill>
          <a:blip r:embed="rId3"/>
          <a:stretch>
            <a:fillRect/>
          </a:stretch>
        </p:blipFill>
        <p:spPr>
          <a:xfrm>
            <a:off x="429768" y="1719072"/>
            <a:ext cx="201168" cy="201168"/>
          </a:xfrm>
          <a:prstGeom prst="rect">
            <a:avLst/>
          </a:prstGeom>
        </p:spPr>
      </p:pic>
      <p:sp>
        <p:nvSpPr>
          <p:cNvPr id="15" name="Text 10"/>
          <p:cNvSpPr/>
          <p:nvPr/>
        </p:nvSpPr>
        <p:spPr>
          <a:xfrm>
            <a:off x="685800" y="171907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DTMF 2 – Secure input sub-flow</a:t>
            </a:r>
            <a:endParaRPr lang="en-US" sz="850" dirty="0"/>
          </a:p>
        </p:txBody>
      </p:sp>
      <p:pic>
        <p:nvPicPr>
          <p:cNvPr id="16" name="Image 3" descr="preencoded.png">    </p:cNvPr>
          <p:cNvPicPr>
            <a:picLocks noChangeAspect="1"/>
          </p:cNvPicPr>
          <p:nvPr/>
        </p:nvPicPr>
        <p:blipFill>
          <a:blip r:embed="rId4"/>
          <a:stretch>
            <a:fillRect/>
          </a:stretch>
        </p:blipFill>
        <p:spPr>
          <a:xfrm>
            <a:off x="429768" y="1993392"/>
            <a:ext cx="201168" cy="201168"/>
          </a:xfrm>
          <a:prstGeom prst="rect">
            <a:avLst/>
          </a:prstGeom>
        </p:spPr>
      </p:pic>
      <p:sp>
        <p:nvSpPr>
          <p:cNvPr id="17" name="Text 11"/>
          <p:cNvSpPr/>
          <p:nvPr/>
        </p:nvSpPr>
        <p:spPr>
          <a:xfrm>
            <a:off x="685800" y="199339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DTMF 3 – Lambda integration flow</a:t>
            </a:r>
            <a:endParaRPr lang="en-US" sz="850" dirty="0"/>
          </a:p>
        </p:txBody>
      </p:sp>
      <p:pic>
        <p:nvPicPr>
          <p:cNvPr id="18" name="Image 4" descr="preencoded.png">    </p:cNvPr>
          <p:cNvPicPr>
            <a:picLocks noChangeAspect="1"/>
          </p:cNvPicPr>
          <p:nvPr/>
        </p:nvPicPr>
        <p:blipFill>
          <a:blip r:embed="rId5"/>
          <a:stretch>
            <a:fillRect/>
          </a:stretch>
        </p:blipFill>
        <p:spPr>
          <a:xfrm>
            <a:off x="429768" y="2267712"/>
            <a:ext cx="201168" cy="201168"/>
          </a:xfrm>
          <a:prstGeom prst="rect">
            <a:avLst/>
          </a:prstGeom>
        </p:spPr>
      </p:pic>
      <p:sp>
        <p:nvSpPr>
          <p:cNvPr id="19" name="Text 12"/>
          <p:cNvSpPr/>
          <p:nvPr/>
        </p:nvSpPr>
        <p:spPr>
          <a:xfrm>
            <a:off x="685800" y="226771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DTMF 4 – Note-taking sub-flow</a:t>
            </a:r>
            <a:endParaRPr lang="en-US" sz="850" dirty="0"/>
          </a:p>
        </p:txBody>
      </p:sp>
      <p:pic>
        <p:nvPicPr>
          <p:cNvPr id="20" name="Image 5" descr="preencoded.png">    </p:cNvPr>
          <p:cNvPicPr>
            <a:picLocks noChangeAspect="1"/>
          </p:cNvPicPr>
          <p:nvPr/>
        </p:nvPicPr>
        <p:blipFill>
          <a:blip r:embed="rId6"/>
          <a:stretch>
            <a:fillRect/>
          </a:stretch>
        </p:blipFill>
        <p:spPr>
          <a:xfrm>
            <a:off x="429768" y="2542032"/>
            <a:ext cx="201168" cy="201168"/>
          </a:xfrm>
          <a:prstGeom prst="rect">
            <a:avLst/>
          </a:prstGeom>
        </p:spPr>
      </p:pic>
      <p:sp>
        <p:nvSpPr>
          <p:cNvPr id="21" name="Text 13"/>
          <p:cNvSpPr/>
          <p:nvPr/>
        </p:nvSpPr>
        <p:spPr>
          <a:xfrm>
            <a:off x="685800" y="254203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DTMF 5 – Chat transfer</a:t>
            </a:r>
            <a:endParaRPr lang="en-US" sz="850" dirty="0"/>
          </a:p>
        </p:txBody>
      </p:sp>
      <p:pic>
        <p:nvPicPr>
          <p:cNvPr id="22" name="Image 6" descr="preencoded.png">    </p:cNvPr>
          <p:cNvPicPr>
            <a:picLocks noChangeAspect="1"/>
          </p:cNvPicPr>
          <p:nvPr/>
        </p:nvPicPr>
        <p:blipFill>
          <a:blip r:embed="rId7"/>
          <a:stretch>
            <a:fillRect/>
          </a:stretch>
        </p:blipFill>
        <p:spPr>
          <a:xfrm>
            <a:off x="429768" y="2816352"/>
            <a:ext cx="201168" cy="201168"/>
          </a:xfrm>
          <a:prstGeom prst="rect">
            <a:avLst/>
          </a:prstGeom>
        </p:spPr>
      </p:pic>
      <p:sp>
        <p:nvSpPr>
          <p:cNvPr id="23" name="Text 14"/>
          <p:cNvSpPr/>
          <p:nvPr/>
        </p:nvSpPr>
        <p:spPr>
          <a:xfrm>
            <a:off x="685800" y="281635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After-hours closed behaviour</a:t>
            </a:r>
            <a:endParaRPr lang="en-US" sz="850" dirty="0"/>
          </a:p>
        </p:txBody>
      </p:sp>
      <p:pic>
        <p:nvPicPr>
          <p:cNvPr id="24" name="Image 7" descr="preencoded.png">    </p:cNvPr>
          <p:cNvPicPr>
            <a:picLocks noChangeAspect="1"/>
          </p:cNvPicPr>
          <p:nvPr/>
        </p:nvPicPr>
        <p:blipFill>
          <a:blip r:embed="rId8"/>
          <a:stretch>
            <a:fillRect/>
          </a:stretch>
        </p:blipFill>
        <p:spPr>
          <a:xfrm>
            <a:off x="429768" y="3090672"/>
            <a:ext cx="201168" cy="201168"/>
          </a:xfrm>
          <a:prstGeom prst="rect">
            <a:avLst/>
          </a:prstGeom>
        </p:spPr>
      </p:pic>
      <p:sp>
        <p:nvSpPr>
          <p:cNvPr id="25" name="Text 15"/>
          <p:cNvSpPr/>
          <p:nvPr/>
        </p:nvSpPr>
        <p:spPr>
          <a:xfrm>
            <a:off x="685800" y="309067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Invalid DTMF reprompt</a:t>
            </a:r>
            <a:endParaRPr lang="en-US" sz="850" dirty="0"/>
          </a:p>
        </p:txBody>
      </p:sp>
      <p:pic>
        <p:nvPicPr>
          <p:cNvPr id="26" name="Image 8" descr="preencoded.png">    </p:cNvPr>
          <p:cNvPicPr>
            <a:picLocks noChangeAspect="1"/>
          </p:cNvPicPr>
          <p:nvPr/>
        </p:nvPicPr>
        <p:blipFill>
          <a:blip r:embed="rId9"/>
          <a:stretch>
            <a:fillRect/>
          </a:stretch>
        </p:blipFill>
        <p:spPr>
          <a:xfrm>
            <a:off x="429768" y="3364992"/>
            <a:ext cx="201168" cy="201168"/>
          </a:xfrm>
          <a:prstGeom prst="rect">
            <a:avLst/>
          </a:prstGeom>
        </p:spPr>
      </p:pic>
      <p:sp>
        <p:nvSpPr>
          <p:cNvPr id="27" name="Text 16"/>
          <p:cNvSpPr/>
          <p:nvPr/>
        </p:nvSpPr>
        <p:spPr>
          <a:xfrm>
            <a:off x="685800" y="336499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No-input timeout reprompt</a:t>
            </a:r>
            <a:endParaRPr lang="en-US" sz="850" dirty="0"/>
          </a:p>
        </p:txBody>
      </p:sp>
      <p:pic>
        <p:nvPicPr>
          <p:cNvPr id="28" name="Image 9" descr="preencoded.png">    </p:cNvPr>
          <p:cNvPicPr>
            <a:picLocks noChangeAspect="1"/>
          </p:cNvPicPr>
          <p:nvPr/>
        </p:nvPicPr>
        <p:blipFill>
          <a:blip r:embed="rId10"/>
          <a:stretch>
            <a:fillRect/>
          </a:stretch>
        </p:blipFill>
        <p:spPr>
          <a:xfrm>
            <a:off x="429768" y="3639312"/>
            <a:ext cx="201168" cy="201168"/>
          </a:xfrm>
          <a:prstGeom prst="rect">
            <a:avLst/>
          </a:prstGeom>
        </p:spPr>
      </p:pic>
      <p:sp>
        <p:nvSpPr>
          <p:cNvPr id="29" name="Text 17"/>
          <p:cNvSpPr/>
          <p:nvPr/>
        </p:nvSpPr>
        <p:spPr>
          <a:xfrm>
            <a:off x="685800" y="363931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Catastrophic error fallback</a:t>
            </a:r>
            <a:endParaRPr lang="en-US" sz="850" dirty="0"/>
          </a:p>
        </p:txBody>
      </p:sp>
      <p:pic>
        <p:nvPicPr>
          <p:cNvPr id="30" name="Image 10" descr="preencoded.png">    </p:cNvPr>
          <p:cNvPicPr>
            <a:picLocks noChangeAspect="1"/>
          </p:cNvPicPr>
          <p:nvPr/>
        </p:nvPicPr>
        <p:blipFill>
          <a:blip r:embed="rId11"/>
          <a:stretch>
            <a:fillRect/>
          </a:stretch>
        </p:blipFill>
        <p:spPr>
          <a:xfrm>
            <a:off x="429768" y="3913632"/>
            <a:ext cx="201168" cy="201168"/>
          </a:xfrm>
          <a:prstGeom prst="rect">
            <a:avLst/>
          </a:prstGeom>
        </p:spPr>
      </p:pic>
      <p:sp>
        <p:nvSpPr>
          <p:cNvPr id="31" name="Text 18"/>
          <p:cNvSpPr/>
          <p:nvPr/>
        </p:nvSpPr>
        <p:spPr>
          <a:xfrm>
            <a:off x="685800" y="391363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Callback scheduling</a:t>
            </a:r>
            <a:endParaRPr lang="en-US" sz="850" dirty="0"/>
          </a:p>
        </p:txBody>
      </p:sp>
      <p:pic>
        <p:nvPicPr>
          <p:cNvPr id="32" name="Image 11" descr="preencoded.png">    </p:cNvPr>
          <p:cNvPicPr>
            <a:picLocks noChangeAspect="1"/>
          </p:cNvPicPr>
          <p:nvPr/>
        </p:nvPicPr>
        <p:blipFill>
          <a:blip r:embed="rId12"/>
          <a:stretch>
            <a:fillRect/>
          </a:stretch>
        </p:blipFill>
        <p:spPr>
          <a:xfrm>
            <a:off x="429768" y="4187952"/>
            <a:ext cx="201168" cy="201168"/>
          </a:xfrm>
          <a:prstGeom prst="rect">
            <a:avLst/>
          </a:prstGeom>
        </p:spPr>
      </p:pic>
      <p:sp>
        <p:nvSpPr>
          <p:cNvPr id="33" name="Text 19"/>
          <p:cNvSpPr/>
          <p:nvPr/>
        </p:nvSpPr>
        <p:spPr>
          <a:xfrm>
            <a:off x="685800" y="418795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Multi-turn auth (DTMF PIN entry)</a:t>
            </a:r>
            <a:endParaRPr lang="en-US" sz="850" dirty="0"/>
          </a:p>
        </p:txBody>
      </p:sp>
      <p:sp>
        <p:nvSpPr>
          <p:cNvPr id="34" name="Shape 20"/>
          <p:cNvSpPr/>
          <p:nvPr/>
        </p:nvSpPr>
        <p:spPr>
          <a:xfrm>
            <a:off x="3264408" y="713232"/>
            <a:ext cx="2788920" cy="384048"/>
          </a:xfrm>
          <a:prstGeom prst="rect">
            <a:avLst/>
          </a:prstGeom>
          <a:solidFill>
            <a:srgbClr val="1C7293"/>
          </a:solidFill>
          <a:ln/>
        </p:spPr>
      </p:sp>
      <p:sp>
        <p:nvSpPr>
          <p:cNvPr id="35" name="Text 21"/>
          <p:cNvSpPr/>
          <p:nvPr/>
        </p:nvSpPr>
        <p:spPr>
          <a:xfrm>
            <a:off x="3355848" y="713232"/>
            <a:ext cx="26060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Lambda Functions</a:t>
            </a:r>
            <a:endParaRPr lang="en-US" sz="1300" dirty="0"/>
          </a:p>
        </p:txBody>
      </p:sp>
      <p:sp>
        <p:nvSpPr>
          <p:cNvPr id="36" name="Shape 22"/>
          <p:cNvSpPr/>
          <p:nvPr/>
        </p:nvSpPr>
        <p:spPr>
          <a:xfrm>
            <a:off x="3264408" y="1097280"/>
            <a:ext cx="2788920" cy="3602736"/>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37" name="Image 12" descr="preencoded.png">    </p:cNvPr>
          <p:cNvPicPr>
            <a:picLocks noChangeAspect="1"/>
          </p:cNvPicPr>
          <p:nvPr/>
        </p:nvPicPr>
        <p:blipFill>
          <a:blip r:embed="rId13"/>
          <a:stretch>
            <a:fillRect/>
          </a:stretch>
        </p:blipFill>
        <p:spPr>
          <a:xfrm>
            <a:off x="3374136" y="1170432"/>
            <a:ext cx="201168" cy="201168"/>
          </a:xfrm>
          <a:prstGeom prst="rect">
            <a:avLst/>
          </a:prstGeom>
        </p:spPr>
      </p:pic>
      <p:sp>
        <p:nvSpPr>
          <p:cNvPr id="38" name="Text 23"/>
          <p:cNvSpPr/>
          <p:nvPr/>
        </p:nvSpPr>
        <p:spPr>
          <a:xfrm>
            <a:off x="3630168" y="117043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S3 PutObject event → DynamoDB write</a:t>
            </a:r>
            <a:endParaRPr lang="en-US" sz="850" dirty="0"/>
          </a:p>
        </p:txBody>
      </p:sp>
      <p:pic>
        <p:nvPicPr>
          <p:cNvPr id="39" name="Image 13" descr="preencoded.png">    </p:cNvPr>
          <p:cNvPicPr>
            <a:picLocks noChangeAspect="1"/>
          </p:cNvPicPr>
          <p:nvPr/>
        </p:nvPicPr>
        <p:blipFill>
          <a:blip r:embed="rId14"/>
          <a:stretch>
            <a:fillRect/>
          </a:stretch>
        </p:blipFill>
        <p:spPr>
          <a:xfrm>
            <a:off x="3374136" y="1444752"/>
            <a:ext cx="201168" cy="201168"/>
          </a:xfrm>
          <a:prstGeom prst="rect">
            <a:avLst/>
          </a:prstGeom>
        </p:spPr>
      </p:pic>
      <p:sp>
        <p:nvSpPr>
          <p:cNvPr id="40" name="Text 24"/>
          <p:cNvSpPr/>
          <p:nvPr/>
        </p:nvSpPr>
        <p:spPr>
          <a:xfrm>
            <a:off x="3630168" y="144475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DynamoDB stream event processing</a:t>
            </a:r>
            <a:endParaRPr lang="en-US" sz="850" dirty="0"/>
          </a:p>
        </p:txBody>
      </p:sp>
      <p:pic>
        <p:nvPicPr>
          <p:cNvPr id="41" name="Image 14" descr="preencoded.png">    </p:cNvPr>
          <p:cNvPicPr>
            <a:picLocks noChangeAspect="1"/>
          </p:cNvPicPr>
          <p:nvPr/>
        </p:nvPicPr>
        <p:blipFill>
          <a:blip r:embed="rId15"/>
          <a:stretch>
            <a:fillRect/>
          </a:stretch>
        </p:blipFill>
        <p:spPr>
          <a:xfrm>
            <a:off x="3374136" y="1719072"/>
            <a:ext cx="201168" cy="201168"/>
          </a:xfrm>
          <a:prstGeom prst="rect">
            <a:avLst/>
          </a:prstGeom>
        </p:spPr>
      </p:pic>
      <p:sp>
        <p:nvSpPr>
          <p:cNvPr id="42" name="Text 25"/>
          <p:cNvSpPr/>
          <p:nvPr/>
        </p:nvSpPr>
        <p:spPr>
          <a:xfrm>
            <a:off x="3630168" y="171907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Async invocation side-effects</a:t>
            </a:r>
            <a:endParaRPr lang="en-US" sz="850" dirty="0"/>
          </a:p>
        </p:txBody>
      </p:sp>
      <p:pic>
        <p:nvPicPr>
          <p:cNvPr id="43" name="Image 15" descr="preencoded.png">    </p:cNvPr>
          <p:cNvPicPr>
            <a:picLocks noChangeAspect="1"/>
          </p:cNvPicPr>
          <p:nvPr/>
        </p:nvPicPr>
        <p:blipFill>
          <a:blip r:embed="rId16"/>
          <a:stretch>
            <a:fillRect/>
          </a:stretch>
        </p:blipFill>
        <p:spPr>
          <a:xfrm>
            <a:off x="3374136" y="1993392"/>
            <a:ext cx="201168" cy="201168"/>
          </a:xfrm>
          <a:prstGeom prst="rect">
            <a:avLst/>
          </a:prstGeom>
        </p:spPr>
      </p:pic>
      <p:sp>
        <p:nvSpPr>
          <p:cNvPr id="44" name="Text 26"/>
          <p:cNvSpPr/>
          <p:nvPr/>
        </p:nvSpPr>
        <p:spPr>
          <a:xfrm>
            <a:off x="3630168" y="199339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FunctionError (error-path cases)</a:t>
            </a:r>
            <a:endParaRPr lang="en-US" sz="850" dirty="0"/>
          </a:p>
        </p:txBody>
      </p:sp>
      <p:pic>
        <p:nvPicPr>
          <p:cNvPr id="45" name="Image 16" descr="preencoded.png">    </p:cNvPr>
          <p:cNvPicPr>
            <a:picLocks noChangeAspect="1"/>
          </p:cNvPicPr>
          <p:nvPr/>
        </p:nvPicPr>
        <p:blipFill>
          <a:blip r:embed="rId17"/>
          <a:stretch>
            <a:fillRect/>
          </a:stretch>
        </p:blipFill>
        <p:spPr>
          <a:xfrm>
            <a:off x="3374136" y="2267712"/>
            <a:ext cx="201168" cy="201168"/>
          </a:xfrm>
          <a:prstGeom prst="rect">
            <a:avLst/>
          </a:prstGeom>
        </p:spPr>
      </p:pic>
      <p:sp>
        <p:nvSpPr>
          <p:cNvPr id="46" name="Text 27"/>
          <p:cNvSpPr/>
          <p:nvPr/>
        </p:nvSpPr>
        <p:spPr>
          <a:xfrm>
            <a:off x="3630168" y="226771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Missing env var error handling</a:t>
            </a:r>
            <a:endParaRPr lang="en-US" sz="850" dirty="0"/>
          </a:p>
        </p:txBody>
      </p:sp>
      <p:pic>
        <p:nvPicPr>
          <p:cNvPr id="47" name="Image 17" descr="preencoded.png">    </p:cNvPr>
          <p:cNvPicPr>
            <a:picLocks noChangeAspect="1"/>
          </p:cNvPicPr>
          <p:nvPr/>
        </p:nvPicPr>
        <p:blipFill>
          <a:blip r:embed="rId18"/>
          <a:stretch>
            <a:fillRect/>
          </a:stretch>
        </p:blipFill>
        <p:spPr>
          <a:xfrm>
            <a:off x="3374136" y="2542032"/>
            <a:ext cx="201168" cy="201168"/>
          </a:xfrm>
          <a:prstGeom prst="rect">
            <a:avLst/>
          </a:prstGeom>
        </p:spPr>
      </p:pic>
      <p:sp>
        <p:nvSpPr>
          <p:cNvPr id="48" name="Text 28"/>
          <p:cNvSpPr/>
          <p:nvPr/>
        </p:nvSpPr>
        <p:spPr>
          <a:xfrm>
            <a:off x="3630168" y="254203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Response body validation</a:t>
            </a:r>
            <a:endParaRPr lang="en-US" sz="850" dirty="0"/>
          </a:p>
        </p:txBody>
      </p:sp>
      <p:pic>
        <p:nvPicPr>
          <p:cNvPr id="49" name="Image 18" descr="preencoded.png">    </p:cNvPr>
          <p:cNvPicPr>
            <a:picLocks noChangeAspect="1"/>
          </p:cNvPicPr>
          <p:nvPr/>
        </p:nvPicPr>
        <p:blipFill>
          <a:blip r:embed="rId19"/>
          <a:stretch>
            <a:fillRect/>
          </a:stretch>
        </p:blipFill>
        <p:spPr>
          <a:xfrm>
            <a:off x="3374136" y="2816352"/>
            <a:ext cx="201168" cy="201168"/>
          </a:xfrm>
          <a:prstGeom prst="rect">
            <a:avLst/>
          </a:prstGeom>
        </p:spPr>
      </p:pic>
      <p:sp>
        <p:nvSpPr>
          <p:cNvPr id="50" name="Text 29"/>
          <p:cNvSpPr/>
          <p:nvPr/>
        </p:nvSpPr>
        <p:spPr>
          <a:xfrm>
            <a:off x="3630168" y="281635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HTTP statusCode assertion</a:t>
            </a:r>
            <a:endParaRPr lang="en-US" sz="850" dirty="0"/>
          </a:p>
        </p:txBody>
      </p:sp>
      <p:pic>
        <p:nvPicPr>
          <p:cNvPr id="51" name="Image 19" descr="preencoded.png">    </p:cNvPr>
          <p:cNvPicPr>
            <a:picLocks noChangeAspect="1"/>
          </p:cNvPicPr>
          <p:nvPr/>
        </p:nvPicPr>
        <p:blipFill>
          <a:blip r:embed="rId20"/>
          <a:stretch>
            <a:fillRect/>
          </a:stretch>
        </p:blipFill>
        <p:spPr>
          <a:xfrm>
            <a:off x="3374136" y="3090672"/>
            <a:ext cx="201168" cy="201168"/>
          </a:xfrm>
          <a:prstGeom prst="rect">
            <a:avLst/>
          </a:prstGeom>
        </p:spPr>
      </p:pic>
      <p:sp>
        <p:nvSpPr>
          <p:cNvPr id="52" name="Text 30"/>
          <p:cNvSpPr/>
          <p:nvPr/>
        </p:nvSpPr>
        <p:spPr>
          <a:xfrm>
            <a:off x="3630168" y="309067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S3 object creation validation</a:t>
            </a:r>
            <a:endParaRPr lang="en-US" sz="850" dirty="0"/>
          </a:p>
        </p:txBody>
      </p:sp>
      <p:sp>
        <p:nvSpPr>
          <p:cNvPr id="53" name="Shape 31"/>
          <p:cNvSpPr/>
          <p:nvPr/>
        </p:nvSpPr>
        <p:spPr>
          <a:xfrm>
            <a:off x="6208776" y="713232"/>
            <a:ext cx="2788920" cy="384048"/>
          </a:xfrm>
          <a:prstGeom prst="rect">
            <a:avLst/>
          </a:prstGeom>
          <a:solidFill>
            <a:srgbClr val="02C39A"/>
          </a:solidFill>
          <a:ln/>
        </p:spPr>
      </p:sp>
      <p:sp>
        <p:nvSpPr>
          <p:cNvPr id="54" name="Text 32"/>
          <p:cNvSpPr/>
          <p:nvPr/>
        </p:nvSpPr>
        <p:spPr>
          <a:xfrm>
            <a:off x="6300216" y="713232"/>
            <a:ext cx="26060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Lex Bots</a:t>
            </a:r>
            <a:endParaRPr lang="en-US" sz="1300" dirty="0"/>
          </a:p>
        </p:txBody>
      </p:sp>
      <p:sp>
        <p:nvSpPr>
          <p:cNvPr id="55" name="Shape 33"/>
          <p:cNvSpPr/>
          <p:nvPr/>
        </p:nvSpPr>
        <p:spPr>
          <a:xfrm>
            <a:off x="6208776" y="1097280"/>
            <a:ext cx="2788920" cy="3602736"/>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56" name="Image 20" descr="preencoded.png">    </p:cNvPr>
          <p:cNvPicPr>
            <a:picLocks noChangeAspect="1"/>
          </p:cNvPicPr>
          <p:nvPr/>
        </p:nvPicPr>
        <p:blipFill>
          <a:blip r:embed="rId21"/>
          <a:stretch>
            <a:fillRect/>
          </a:stretch>
        </p:blipFill>
        <p:spPr>
          <a:xfrm>
            <a:off x="6318504" y="1170432"/>
            <a:ext cx="201168" cy="201168"/>
          </a:xfrm>
          <a:prstGeom prst="rect">
            <a:avLst/>
          </a:prstGeom>
        </p:spPr>
      </p:pic>
      <p:sp>
        <p:nvSpPr>
          <p:cNvPr id="57" name="Text 34"/>
          <p:cNvSpPr/>
          <p:nvPr/>
        </p:nvSpPr>
        <p:spPr>
          <a:xfrm>
            <a:off x="6574536" y="117043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Intent recognition accuracy</a:t>
            </a:r>
            <a:endParaRPr lang="en-US" sz="850" dirty="0"/>
          </a:p>
        </p:txBody>
      </p:sp>
      <p:pic>
        <p:nvPicPr>
          <p:cNvPr id="58" name="Image 21" descr="preencoded.png">    </p:cNvPr>
          <p:cNvPicPr>
            <a:picLocks noChangeAspect="1"/>
          </p:cNvPicPr>
          <p:nvPr/>
        </p:nvPicPr>
        <p:blipFill>
          <a:blip r:embed="rId22"/>
          <a:stretch>
            <a:fillRect/>
          </a:stretch>
        </p:blipFill>
        <p:spPr>
          <a:xfrm>
            <a:off x="6318504" y="1444752"/>
            <a:ext cx="201168" cy="201168"/>
          </a:xfrm>
          <a:prstGeom prst="rect">
            <a:avLst/>
          </a:prstGeom>
        </p:spPr>
      </p:pic>
      <p:sp>
        <p:nvSpPr>
          <p:cNvPr id="59" name="Text 35"/>
          <p:cNvSpPr/>
          <p:nvPr/>
        </p:nvSpPr>
        <p:spPr>
          <a:xfrm>
            <a:off x="6574536" y="144475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Slot filling &amp; elicitation</a:t>
            </a:r>
            <a:endParaRPr lang="en-US" sz="850" dirty="0"/>
          </a:p>
        </p:txBody>
      </p:sp>
      <p:pic>
        <p:nvPicPr>
          <p:cNvPr id="60" name="Image 22" descr="preencoded.png">    </p:cNvPr>
          <p:cNvPicPr>
            <a:picLocks noChangeAspect="1"/>
          </p:cNvPicPr>
          <p:nvPr/>
        </p:nvPicPr>
        <p:blipFill>
          <a:blip r:embed="rId23"/>
          <a:stretch>
            <a:fillRect/>
          </a:stretch>
        </p:blipFill>
        <p:spPr>
          <a:xfrm>
            <a:off x="6318504" y="1719072"/>
            <a:ext cx="201168" cy="201168"/>
          </a:xfrm>
          <a:prstGeom prst="rect">
            <a:avLst/>
          </a:prstGeom>
        </p:spPr>
      </p:pic>
      <p:sp>
        <p:nvSpPr>
          <p:cNvPr id="61" name="Text 36"/>
          <p:cNvSpPr/>
          <p:nvPr/>
        </p:nvSpPr>
        <p:spPr>
          <a:xfrm>
            <a:off x="6574536" y="171907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ConfirmIntent dialog state</a:t>
            </a:r>
            <a:endParaRPr lang="en-US" sz="850" dirty="0"/>
          </a:p>
        </p:txBody>
      </p:sp>
      <p:pic>
        <p:nvPicPr>
          <p:cNvPr id="62" name="Image 23" descr="preencoded.png">    </p:cNvPr>
          <p:cNvPicPr>
            <a:picLocks noChangeAspect="1"/>
          </p:cNvPicPr>
          <p:nvPr/>
        </p:nvPicPr>
        <p:blipFill>
          <a:blip r:embed="rId24"/>
          <a:stretch>
            <a:fillRect/>
          </a:stretch>
        </p:blipFill>
        <p:spPr>
          <a:xfrm>
            <a:off x="6318504" y="1993392"/>
            <a:ext cx="201168" cy="201168"/>
          </a:xfrm>
          <a:prstGeom prst="rect">
            <a:avLst/>
          </a:prstGeom>
        </p:spPr>
      </p:pic>
      <p:sp>
        <p:nvSpPr>
          <p:cNvPr id="63" name="Text 37"/>
          <p:cNvSpPr/>
          <p:nvPr/>
        </p:nvSpPr>
        <p:spPr>
          <a:xfrm>
            <a:off x="6574536" y="199339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Multi-turn conversation tracking</a:t>
            </a:r>
            <a:endParaRPr lang="en-US" sz="850" dirty="0"/>
          </a:p>
        </p:txBody>
      </p:sp>
      <p:pic>
        <p:nvPicPr>
          <p:cNvPr id="64" name="Image 24" descr="preencoded.png">    </p:cNvPr>
          <p:cNvPicPr>
            <a:picLocks noChangeAspect="1"/>
          </p:cNvPicPr>
          <p:nvPr/>
        </p:nvPicPr>
        <p:blipFill>
          <a:blip r:embed="rId25"/>
          <a:stretch>
            <a:fillRect/>
          </a:stretch>
        </p:blipFill>
        <p:spPr>
          <a:xfrm>
            <a:off x="6318504" y="2267712"/>
            <a:ext cx="201168" cy="201168"/>
          </a:xfrm>
          <a:prstGeom prst="rect">
            <a:avLst/>
          </a:prstGeom>
        </p:spPr>
      </p:pic>
      <p:sp>
        <p:nvSpPr>
          <p:cNvPr id="65" name="Text 38"/>
          <p:cNvSpPr/>
          <p:nvPr/>
        </p:nvSpPr>
        <p:spPr>
          <a:xfrm>
            <a:off x="6574536" y="226771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Fallback / unrecognised utterance</a:t>
            </a:r>
            <a:endParaRPr lang="en-US" sz="850" dirty="0"/>
          </a:p>
        </p:txBody>
      </p:sp>
      <p:pic>
        <p:nvPicPr>
          <p:cNvPr id="66" name="Image 25" descr="preencoded.png">    </p:cNvPr>
          <p:cNvPicPr>
            <a:picLocks noChangeAspect="1"/>
          </p:cNvPicPr>
          <p:nvPr/>
        </p:nvPicPr>
        <p:blipFill>
          <a:blip r:embed="rId26"/>
          <a:stretch>
            <a:fillRect/>
          </a:stretch>
        </p:blipFill>
        <p:spPr>
          <a:xfrm>
            <a:off x="6318504" y="2542032"/>
            <a:ext cx="201168" cy="201168"/>
          </a:xfrm>
          <a:prstGeom prst="rect">
            <a:avLst/>
          </a:prstGeom>
        </p:spPr>
      </p:pic>
      <p:sp>
        <p:nvSpPr>
          <p:cNvPr id="67" name="Text 39"/>
          <p:cNvSpPr/>
          <p:nvPr/>
        </p:nvSpPr>
        <p:spPr>
          <a:xfrm>
            <a:off x="6574536" y="254203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Session attribute propagation</a:t>
            </a:r>
            <a:endParaRPr lang="en-US" sz="850" dirty="0"/>
          </a:p>
        </p:txBody>
      </p:sp>
      <p:pic>
        <p:nvPicPr>
          <p:cNvPr id="68" name="Image 26" descr="preencoded.png">    </p:cNvPr>
          <p:cNvPicPr>
            <a:picLocks noChangeAspect="1"/>
          </p:cNvPicPr>
          <p:nvPr/>
        </p:nvPicPr>
        <p:blipFill>
          <a:blip r:embed="rId27"/>
          <a:stretch>
            <a:fillRect/>
          </a:stretch>
        </p:blipFill>
        <p:spPr>
          <a:xfrm>
            <a:off x="6318504" y="2816352"/>
            <a:ext cx="201168" cy="201168"/>
          </a:xfrm>
          <a:prstGeom prst="rect">
            <a:avLst/>
          </a:prstGeom>
        </p:spPr>
      </p:pic>
      <p:sp>
        <p:nvSpPr>
          <p:cNvPr id="69" name="Text 40"/>
          <p:cNvSpPr/>
          <p:nvPr/>
        </p:nvSpPr>
        <p:spPr>
          <a:xfrm>
            <a:off x="6574536" y="281635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Active context tracking</a:t>
            </a:r>
            <a:endParaRPr lang="en-US" sz="850" dirty="0"/>
          </a:p>
        </p:txBody>
      </p:sp>
      <p:pic>
        <p:nvPicPr>
          <p:cNvPr id="70" name="Image 27" descr="preencoded.png">    </p:cNvPr>
          <p:cNvPicPr>
            <a:picLocks noChangeAspect="1"/>
          </p:cNvPicPr>
          <p:nvPr/>
        </p:nvPicPr>
        <p:blipFill>
          <a:blip r:embed="rId28"/>
          <a:stretch>
            <a:fillRect/>
          </a:stretch>
        </p:blipFill>
        <p:spPr>
          <a:xfrm>
            <a:off x="6318504" y="3090672"/>
            <a:ext cx="201168" cy="201168"/>
          </a:xfrm>
          <a:prstGeom prst="rect">
            <a:avLst/>
          </a:prstGeom>
        </p:spPr>
      </p:pic>
      <p:sp>
        <p:nvSpPr>
          <p:cNvPr id="71" name="Text 41"/>
          <p:cNvSpPr/>
          <p:nvPr/>
        </p:nvSpPr>
        <p:spPr>
          <a:xfrm>
            <a:off x="6574536" y="3090672"/>
            <a:ext cx="2331720" cy="237744"/>
          </a:xfrm>
          <a:prstGeom prst="rect">
            <a:avLst/>
          </a:prstGeom>
          <a:noFill/>
          <a:ln/>
        </p:spPr>
        <p:txBody>
          <a:bodyPr wrap="square" lIns="0" tIns="0" rIns="0" bIns="0" rtlCol="0" anchor="ctr"/>
          <a:lstStyle/>
          <a:p>
            <a:pPr indent="0" marL="0">
              <a:buNone/>
            </a:pPr>
            <a:r>
              <a:rPr lang="en-US" sz="850" dirty="0">
                <a:solidFill>
                  <a:srgbClr val="2C5F7A"/>
                </a:solidFill>
                <a:latin typeface="Calibri" pitchFamily="34" charset="0"/>
                <a:ea typeface="Calibri" pitchFamily="34" charset="-122"/>
                <a:cs typeface="Calibri" pitchFamily="34" charset="-120"/>
              </a:rPr>
              <a:t>Response message verification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C39A"/>
          </a:solidFill>
          <a:ln/>
        </p:spPr>
      </p:sp>
      <p:sp>
        <p:nvSpPr>
          <p:cNvPr id="3" name="Shape 1"/>
          <p:cNvSpPr/>
          <p:nvPr/>
        </p:nvSpPr>
        <p:spPr>
          <a:xfrm>
            <a:off x="201168" y="0"/>
            <a:ext cx="8942832" cy="640080"/>
          </a:xfrm>
          <a:prstGeom prst="rect">
            <a:avLst/>
          </a:prstGeom>
          <a:solidFill>
            <a:srgbClr val="065A82"/>
          </a:solidFill>
          <a:ln/>
        </p:spPr>
      </p:sp>
      <p:sp>
        <p:nvSpPr>
          <p:cNvPr id="4" name="Text 2"/>
          <p:cNvSpPr/>
          <p:nvPr/>
        </p:nvSpPr>
        <p:spPr>
          <a:xfrm>
            <a:off x="502920" y="91440"/>
            <a:ext cx="8229600" cy="47548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Getting Started</a:t>
            </a:r>
            <a:endParaRPr lang="en-US" sz="2800" dirty="0"/>
          </a:p>
        </p:txBody>
      </p:sp>
      <p:sp>
        <p:nvSpPr>
          <p:cNvPr id="5" name="Shape 3"/>
          <p:cNvSpPr/>
          <p:nvPr/>
        </p:nvSpPr>
        <p:spPr>
          <a:xfrm>
            <a:off x="320040" y="868680"/>
            <a:ext cx="402336" cy="402336"/>
          </a:xfrm>
          <a:prstGeom prst="oval">
            <a:avLst/>
          </a:prstGeom>
          <a:solidFill>
            <a:srgbClr val="02C39A"/>
          </a:solidFill>
          <a:ln/>
        </p:spPr>
      </p:sp>
      <p:sp>
        <p:nvSpPr>
          <p:cNvPr id="6" name="Text 4"/>
          <p:cNvSpPr/>
          <p:nvPr/>
        </p:nvSpPr>
        <p:spPr>
          <a:xfrm>
            <a:off x="320040" y="868680"/>
            <a:ext cx="402336" cy="402336"/>
          </a:xfrm>
          <a:prstGeom prst="rect">
            <a:avLst/>
          </a:prstGeom>
          <a:noFill/>
          <a:ln/>
        </p:spPr>
        <p:txBody>
          <a:bodyPr wrap="square" lIns="0" tIns="0" rIns="0" bIns="0" rtlCol="0" anchor="ctr"/>
          <a:lstStyle/>
          <a:p>
            <a:pPr algn="ctr" indent="0" marL="0">
              <a:buNone/>
            </a:pPr>
            <a:r>
              <a:rPr lang="en-US" sz="1300" b="1" dirty="0">
                <a:solidFill>
                  <a:srgbClr val="021526"/>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22960" y="859536"/>
            <a:ext cx="3749040" cy="219456"/>
          </a:xfrm>
          <a:prstGeom prst="rect">
            <a:avLst/>
          </a:prstGeom>
          <a:noFill/>
          <a:ln/>
        </p:spPr>
        <p:txBody>
          <a:bodyPr wrap="square" lIns="0" tIns="0" rIns="0" bIns="0" rtlCol="0" anchor="ctr"/>
          <a:lstStyle/>
          <a:p>
            <a:pPr indent="0" marL="0">
              <a:buNone/>
            </a:pPr>
            <a:r>
              <a:rPr lang="en-US" sz="950" i="1" dirty="0">
                <a:solidFill>
                  <a:srgbClr val="B8D4E8"/>
                </a:solidFill>
                <a:latin typeface="Calibri" pitchFamily="34" charset="0"/>
                <a:ea typeface="Calibri" pitchFamily="34" charset="-122"/>
                <a:cs typeface="Calibri" pitchFamily="34" charset="-120"/>
              </a:rPr>
              <a:t>Clone the repository</a:t>
            </a:r>
            <a:endParaRPr lang="en-US" sz="950" dirty="0"/>
          </a:p>
        </p:txBody>
      </p:sp>
      <p:sp>
        <p:nvSpPr>
          <p:cNvPr id="8" name="Shape 6"/>
          <p:cNvSpPr/>
          <p:nvPr/>
        </p:nvSpPr>
        <p:spPr>
          <a:xfrm>
            <a:off x="822960" y="1078992"/>
            <a:ext cx="7955280" cy="292608"/>
          </a:xfrm>
          <a:prstGeom prst="rect">
            <a:avLst/>
          </a:prstGeom>
          <a:solidFill>
            <a:srgbClr val="0D2137"/>
          </a:solidFill>
          <a:ln/>
        </p:spPr>
      </p:sp>
      <p:sp>
        <p:nvSpPr>
          <p:cNvPr id="9" name="Text 7"/>
          <p:cNvSpPr/>
          <p:nvPr/>
        </p:nvSpPr>
        <p:spPr>
          <a:xfrm>
            <a:off x="896112" y="1097280"/>
            <a:ext cx="7772400" cy="237744"/>
          </a:xfrm>
          <a:prstGeom prst="rect">
            <a:avLst/>
          </a:prstGeom>
          <a:noFill/>
          <a:ln/>
        </p:spPr>
        <p:txBody>
          <a:bodyPr wrap="square" lIns="0" tIns="0" rIns="0" bIns="0" rtlCol="0" anchor="ctr"/>
          <a:lstStyle/>
          <a:p>
            <a:pPr indent="0" marL="0">
              <a:buNone/>
            </a:pPr>
            <a:r>
              <a:rPr lang="en-US" sz="900" dirty="0">
                <a:solidFill>
                  <a:srgbClr val="02C39A"/>
                </a:solidFill>
                <a:latin typeface="Consolas" pitchFamily="34" charset="0"/>
                <a:ea typeface="Consolas" pitchFamily="34" charset="-122"/>
                <a:cs typeface="Consolas" pitchFamily="34" charset="-120"/>
              </a:rPr>
              <a:t>git clone https://github.com/alokkulkarni/amazon_connect_testing.git</a:t>
            </a:r>
            <a:endParaRPr lang="en-US" sz="900" dirty="0"/>
          </a:p>
        </p:txBody>
      </p:sp>
      <p:sp>
        <p:nvSpPr>
          <p:cNvPr id="10" name="Shape 8"/>
          <p:cNvSpPr/>
          <p:nvPr/>
        </p:nvSpPr>
        <p:spPr>
          <a:xfrm>
            <a:off x="320040" y="1481328"/>
            <a:ext cx="402336" cy="402336"/>
          </a:xfrm>
          <a:prstGeom prst="oval">
            <a:avLst/>
          </a:prstGeom>
          <a:solidFill>
            <a:srgbClr val="02C39A"/>
          </a:solidFill>
          <a:ln/>
        </p:spPr>
      </p:sp>
      <p:sp>
        <p:nvSpPr>
          <p:cNvPr id="11" name="Text 9"/>
          <p:cNvSpPr/>
          <p:nvPr/>
        </p:nvSpPr>
        <p:spPr>
          <a:xfrm>
            <a:off x="320040" y="1481328"/>
            <a:ext cx="402336" cy="402336"/>
          </a:xfrm>
          <a:prstGeom prst="rect">
            <a:avLst/>
          </a:prstGeom>
          <a:noFill/>
          <a:ln/>
        </p:spPr>
        <p:txBody>
          <a:bodyPr wrap="square" lIns="0" tIns="0" rIns="0" bIns="0" rtlCol="0" anchor="ctr"/>
          <a:lstStyle/>
          <a:p>
            <a:pPr algn="ctr" indent="0" marL="0">
              <a:buNone/>
            </a:pPr>
            <a:r>
              <a:rPr lang="en-US" sz="1300" b="1" dirty="0">
                <a:solidFill>
                  <a:srgbClr val="021526"/>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822960" y="1472184"/>
            <a:ext cx="3749040" cy="219456"/>
          </a:xfrm>
          <a:prstGeom prst="rect">
            <a:avLst/>
          </a:prstGeom>
          <a:noFill/>
          <a:ln/>
        </p:spPr>
        <p:txBody>
          <a:bodyPr wrap="square" lIns="0" tIns="0" rIns="0" bIns="0" rtlCol="0" anchor="ctr"/>
          <a:lstStyle/>
          <a:p>
            <a:pPr indent="0" marL="0">
              <a:buNone/>
            </a:pPr>
            <a:r>
              <a:rPr lang="en-US" sz="950" i="1" dirty="0">
                <a:solidFill>
                  <a:srgbClr val="B8D4E8"/>
                </a:solidFill>
                <a:latin typeface="Calibri" pitchFamily="34" charset="0"/>
                <a:ea typeface="Calibri" pitchFamily="34" charset="-122"/>
                <a:cs typeface="Calibri" pitchFamily="34" charset="-120"/>
              </a:rPr>
              <a:t>Install Python dependencies</a:t>
            </a:r>
            <a:endParaRPr lang="en-US" sz="950" dirty="0"/>
          </a:p>
        </p:txBody>
      </p:sp>
      <p:sp>
        <p:nvSpPr>
          <p:cNvPr id="13" name="Shape 11"/>
          <p:cNvSpPr/>
          <p:nvPr/>
        </p:nvSpPr>
        <p:spPr>
          <a:xfrm>
            <a:off x="822960" y="1691640"/>
            <a:ext cx="7955280" cy="292608"/>
          </a:xfrm>
          <a:prstGeom prst="rect">
            <a:avLst/>
          </a:prstGeom>
          <a:solidFill>
            <a:srgbClr val="0D2137"/>
          </a:solidFill>
          <a:ln/>
        </p:spPr>
      </p:sp>
      <p:sp>
        <p:nvSpPr>
          <p:cNvPr id="14" name="Text 12"/>
          <p:cNvSpPr/>
          <p:nvPr/>
        </p:nvSpPr>
        <p:spPr>
          <a:xfrm>
            <a:off x="896112" y="1709928"/>
            <a:ext cx="7772400" cy="237744"/>
          </a:xfrm>
          <a:prstGeom prst="rect">
            <a:avLst/>
          </a:prstGeom>
          <a:noFill/>
          <a:ln/>
        </p:spPr>
        <p:txBody>
          <a:bodyPr wrap="square" lIns="0" tIns="0" rIns="0" bIns="0" rtlCol="0" anchor="ctr"/>
          <a:lstStyle/>
          <a:p>
            <a:pPr indent="0" marL="0">
              <a:buNone/>
            </a:pPr>
            <a:r>
              <a:rPr lang="en-US" sz="900" dirty="0">
                <a:solidFill>
                  <a:srgbClr val="02C39A"/>
                </a:solidFill>
                <a:latin typeface="Consolas" pitchFamily="34" charset="0"/>
                <a:ea typeface="Consolas" pitchFamily="34" charset="-122"/>
                <a:cs typeface="Consolas" pitchFamily="34" charset="-120"/>
              </a:rPr>
              <a:t>pip install -r requirements.txt</a:t>
            </a:r>
            <a:endParaRPr lang="en-US" sz="900" dirty="0"/>
          </a:p>
        </p:txBody>
      </p:sp>
      <p:sp>
        <p:nvSpPr>
          <p:cNvPr id="15" name="Shape 13"/>
          <p:cNvSpPr/>
          <p:nvPr/>
        </p:nvSpPr>
        <p:spPr>
          <a:xfrm>
            <a:off x="320040" y="2093976"/>
            <a:ext cx="402336" cy="402336"/>
          </a:xfrm>
          <a:prstGeom prst="oval">
            <a:avLst/>
          </a:prstGeom>
          <a:solidFill>
            <a:srgbClr val="02C39A"/>
          </a:solidFill>
          <a:ln/>
        </p:spPr>
      </p:sp>
      <p:sp>
        <p:nvSpPr>
          <p:cNvPr id="16" name="Text 14"/>
          <p:cNvSpPr/>
          <p:nvPr/>
        </p:nvSpPr>
        <p:spPr>
          <a:xfrm>
            <a:off x="320040" y="2093976"/>
            <a:ext cx="402336" cy="402336"/>
          </a:xfrm>
          <a:prstGeom prst="rect">
            <a:avLst/>
          </a:prstGeom>
          <a:noFill/>
          <a:ln/>
        </p:spPr>
        <p:txBody>
          <a:bodyPr wrap="square" lIns="0" tIns="0" rIns="0" bIns="0" rtlCol="0" anchor="ctr"/>
          <a:lstStyle/>
          <a:p>
            <a:pPr algn="ctr" indent="0" marL="0">
              <a:buNone/>
            </a:pPr>
            <a:r>
              <a:rPr lang="en-US" sz="1300" b="1" dirty="0">
                <a:solidFill>
                  <a:srgbClr val="021526"/>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22960" y="2084832"/>
            <a:ext cx="3749040" cy="219456"/>
          </a:xfrm>
          <a:prstGeom prst="rect">
            <a:avLst/>
          </a:prstGeom>
          <a:noFill/>
          <a:ln/>
        </p:spPr>
        <p:txBody>
          <a:bodyPr wrap="square" lIns="0" tIns="0" rIns="0" bIns="0" rtlCol="0" anchor="ctr"/>
          <a:lstStyle/>
          <a:p>
            <a:pPr indent="0" marL="0">
              <a:buNone/>
            </a:pPr>
            <a:r>
              <a:rPr lang="en-US" sz="950" i="1" dirty="0">
                <a:solidFill>
                  <a:srgbClr val="B8D4E8"/>
                </a:solidFill>
                <a:latin typeface="Calibri" pitchFamily="34" charset="0"/>
                <a:ea typeface="Calibri" pitchFamily="34" charset="-122"/>
                <a:cs typeface="Calibri" pitchFamily="34" charset="-120"/>
              </a:rPr>
              <a:t>Configure environment variables</a:t>
            </a:r>
            <a:endParaRPr lang="en-US" sz="950" dirty="0"/>
          </a:p>
        </p:txBody>
      </p:sp>
      <p:sp>
        <p:nvSpPr>
          <p:cNvPr id="18" name="Shape 16"/>
          <p:cNvSpPr/>
          <p:nvPr/>
        </p:nvSpPr>
        <p:spPr>
          <a:xfrm>
            <a:off x="822960" y="2304288"/>
            <a:ext cx="7955280" cy="292608"/>
          </a:xfrm>
          <a:prstGeom prst="rect">
            <a:avLst/>
          </a:prstGeom>
          <a:solidFill>
            <a:srgbClr val="0D2137"/>
          </a:solidFill>
          <a:ln/>
        </p:spPr>
      </p:sp>
      <p:sp>
        <p:nvSpPr>
          <p:cNvPr id="19" name="Text 17"/>
          <p:cNvSpPr/>
          <p:nvPr/>
        </p:nvSpPr>
        <p:spPr>
          <a:xfrm>
            <a:off x="896112" y="2322576"/>
            <a:ext cx="7772400" cy="237744"/>
          </a:xfrm>
          <a:prstGeom prst="rect">
            <a:avLst/>
          </a:prstGeom>
          <a:noFill/>
          <a:ln/>
        </p:spPr>
        <p:txBody>
          <a:bodyPr wrap="square" lIns="0" tIns="0" rIns="0" bIns="0" rtlCol="0" anchor="ctr"/>
          <a:lstStyle/>
          <a:p>
            <a:pPr indent="0" marL="0">
              <a:buNone/>
            </a:pPr>
            <a:r>
              <a:rPr lang="en-US" sz="900" dirty="0">
                <a:solidFill>
                  <a:srgbClr val="02C39A"/>
                </a:solidFill>
                <a:latin typeface="Consolas" pitchFamily="34" charset="0"/>
                <a:ea typeface="Consolas" pitchFamily="34" charset="-122"/>
                <a:cs typeface="Consolas" pitchFamily="34" charset="-120"/>
              </a:rPr>
              <a:t>cp .env.example .env  &amp;&amp;  vim .env</a:t>
            </a:r>
            <a:endParaRPr lang="en-US" sz="900" dirty="0"/>
          </a:p>
        </p:txBody>
      </p:sp>
      <p:sp>
        <p:nvSpPr>
          <p:cNvPr id="20" name="Shape 18"/>
          <p:cNvSpPr/>
          <p:nvPr/>
        </p:nvSpPr>
        <p:spPr>
          <a:xfrm>
            <a:off x="320040" y="2706624"/>
            <a:ext cx="402336" cy="402336"/>
          </a:xfrm>
          <a:prstGeom prst="oval">
            <a:avLst/>
          </a:prstGeom>
          <a:solidFill>
            <a:srgbClr val="02C39A"/>
          </a:solidFill>
          <a:ln/>
        </p:spPr>
      </p:sp>
      <p:sp>
        <p:nvSpPr>
          <p:cNvPr id="21" name="Text 19"/>
          <p:cNvSpPr/>
          <p:nvPr/>
        </p:nvSpPr>
        <p:spPr>
          <a:xfrm>
            <a:off x="320040" y="2706624"/>
            <a:ext cx="402336" cy="402336"/>
          </a:xfrm>
          <a:prstGeom prst="rect">
            <a:avLst/>
          </a:prstGeom>
          <a:noFill/>
          <a:ln/>
        </p:spPr>
        <p:txBody>
          <a:bodyPr wrap="square" lIns="0" tIns="0" rIns="0" bIns="0" rtlCol="0" anchor="ctr"/>
          <a:lstStyle/>
          <a:p>
            <a:pPr algn="ctr" indent="0" marL="0">
              <a:buNone/>
            </a:pPr>
            <a:r>
              <a:rPr lang="en-US" sz="1300" b="1" dirty="0">
                <a:solidFill>
                  <a:srgbClr val="021526"/>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822960" y="2697480"/>
            <a:ext cx="3749040" cy="219456"/>
          </a:xfrm>
          <a:prstGeom prst="rect">
            <a:avLst/>
          </a:prstGeom>
          <a:noFill/>
          <a:ln/>
        </p:spPr>
        <p:txBody>
          <a:bodyPr wrap="square" lIns="0" tIns="0" rIns="0" bIns="0" rtlCol="0" anchor="ctr"/>
          <a:lstStyle/>
          <a:p>
            <a:pPr indent="0" marL="0">
              <a:buNone/>
            </a:pPr>
            <a:r>
              <a:rPr lang="en-US" sz="950" i="1" dirty="0">
                <a:solidFill>
                  <a:srgbClr val="B8D4E8"/>
                </a:solidFill>
                <a:latin typeface="Calibri" pitchFamily="34" charset="0"/>
                <a:ea typeface="Calibri" pitchFamily="34" charset="-122"/>
                <a:cs typeface="Calibri" pitchFamily="34" charset="-120"/>
              </a:rPr>
              <a:t>Run voice tests in mock mode</a:t>
            </a:r>
            <a:endParaRPr lang="en-US" sz="950" dirty="0"/>
          </a:p>
        </p:txBody>
      </p:sp>
      <p:sp>
        <p:nvSpPr>
          <p:cNvPr id="23" name="Shape 21"/>
          <p:cNvSpPr/>
          <p:nvPr/>
        </p:nvSpPr>
        <p:spPr>
          <a:xfrm>
            <a:off x="822960" y="2916936"/>
            <a:ext cx="7955280" cy="292608"/>
          </a:xfrm>
          <a:prstGeom prst="rect">
            <a:avLst/>
          </a:prstGeom>
          <a:solidFill>
            <a:srgbClr val="0D2137"/>
          </a:solidFill>
          <a:ln/>
        </p:spPr>
      </p:sp>
      <p:sp>
        <p:nvSpPr>
          <p:cNvPr id="24" name="Text 22"/>
          <p:cNvSpPr/>
          <p:nvPr/>
        </p:nvSpPr>
        <p:spPr>
          <a:xfrm>
            <a:off x="896112" y="2935224"/>
            <a:ext cx="7772400" cy="237744"/>
          </a:xfrm>
          <a:prstGeom prst="rect">
            <a:avLst/>
          </a:prstGeom>
          <a:noFill/>
          <a:ln/>
        </p:spPr>
        <p:txBody>
          <a:bodyPr wrap="square" lIns="0" tIns="0" rIns="0" bIns="0" rtlCol="0" anchor="ctr"/>
          <a:lstStyle/>
          <a:p>
            <a:pPr indent="0" marL="0">
              <a:buNone/>
            </a:pPr>
            <a:r>
              <a:rPr lang="en-US" sz="900" dirty="0">
                <a:solidFill>
                  <a:srgbClr val="02C39A"/>
                </a:solidFill>
                <a:latin typeface="Consolas" pitchFamily="34" charset="0"/>
                <a:ea typeface="Consolas" pitchFamily="34" charset="-122"/>
                <a:cs typeface="Consolas" pitchFamily="34" charset="-120"/>
              </a:rPr>
              <a:t>MOCK_AWS=true pytest voice_testing/</a:t>
            </a:r>
            <a:endParaRPr lang="en-US" sz="900" dirty="0"/>
          </a:p>
        </p:txBody>
      </p:sp>
      <p:sp>
        <p:nvSpPr>
          <p:cNvPr id="25" name="Shape 23"/>
          <p:cNvSpPr/>
          <p:nvPr/>
        </p:nvSpPr>
        <p:spPr>
          <a:xfrm>
            <a:off x="320040" y="3319272"/>
            <a:ext cx="402336" cy="402336"/>
          </a:xfrm>
          <a:prstGeom prst="oval">
            <a:avLst/>
          </a:prstGeom>
          <a:solidFill>
            <a:srgbClr val="02C39A"/>
          </a:solidFill>
          <a:ln/>
        </p:spPr>
      </p:sp>
      <p:sp>
        <p:nvSpPr>
          <p:cNvPr id="26" name="Text 24"/>
          <p:cNvSpPr/>
          <p:nvPr/>
        </p:nvSpPr>
        <p:spPr>
          <a:xfrm>
            <a:off x="320040" y="3319272"/>
            <a:ext cx="402336" cy="402336"/>
          </a:xfrm>
          <a:prstGeom prst="rect">
            <a:avLst/>
          </a:prstGeom>
          <a:noFill/>
          <a:ln/>
        </p:spPr>
        <p:txBody>
          <a:bodyPr wrap="square" lIns="0" tIns="0" rIns="0" bIns="0" rtlCol="0" anchor="ctr"/>
          <a:lstStyle/>
          <a:p>
            <a:pPr algn="ctr" indent="0" marL="0">
              <a:buNone/>
            </a:pPr>
            <a:r>
              <a:rPr lang="en-US" sz="1300" b="1" dirty="0">
                <a:solidFill>
                  <a:srgbClr val="021526"/>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822960" y="3310128"/>
            <a:ext cx="3749040" cy="219456"/>
          </a:xfrm>
          <a:prstGeom prst="rect">
            <a:avLst/>
          </a:prstGeom>
          <a:noFill/>
          <a:ln/>
        </p:spPr>
        <p:txBody>
          <a:bodyPr wrap="square" lIns="0" tIns="0" rIns="0" bIns="0" rtlCol="0" anchor="ctr"/>
          <a:lstStyle/>
          <a:p>
            <a:pPr indent="0" marL="0">
              <a:buNone/>
            </a:pPr>
            <a:r>
              <a:rPr lang="en-US" sz="950" i="1" dirty="0">
                <a:solidFill>
                  <a:srgbClr val="B8D4E8"/>
                </a:solidFill>
                <a:latin typeface="Calibri" pitchFamily="34" charset="0"/>
                <a:ea typeface="Calibri" pitchFamily="34" charset="-122"/>
                <a:cs typeface="Calibri" pitchFamily="34" charset="-120"/>
              </a:rPr>
              <a:t>Run Lambda tests with LocalStack</a:t>
            </a:r>
            <a:endParaRPr lang="en-US" sz="950" dirty="0"/>
          </a:p>
        </p:txBody>
      </p:sp>
      <p:sp>
        <p:nvSpPr>
          <p:cNvPr id="28" name="Shape 26"/>
          <p:cNvSpPr/>
          <p:nvPr/>
        </p:nvSpPr>
        <p:spPr>
          <a:xfrm>
            <a:off x="822960" y="3529584"/>
            <a:ext cx="7955280" cy="292608"/>
          </a:xfrm>
          <a:prstGeom prst="rect">
            <a:avLst/>
          </a:prstGeom>
          <a:solidFill>
            <a:srgbClr val="0D2137"/>
          </a:solidFill>
          <a:ln/>
        </p:spPr>
      </p:sp>
      <p:sp>
        <p:nvSpPr>
          <p:cNvPr id="29" name="Text 27"/>
          <p:cNvSpPr/>
          <p:nvPr/>
        </p:nvSpPr>
        <p:spPr>
          <a:xfrm>
            <a:off x="896112" y="3547872"/>
            <a:ext cx="7772400" cy="237744"/>
          </a:xfrm>
          <a:prstGeom prst="rect">
            <a:avLst/>
          </a:prstGeom>
          <a:noFill/>
          <a:ln/>
        </p:spPr>
        <p:txBody>
          <a:bodyPr wrap="square" lIns="0" tIns="0" rIns="0" bIns="0" rtlCol="0" anchor="ctr"/>
          <a:lstStyle/>
          <a:p>
            <a:pPr indent="0" marL="0">
              <a:buNone/>
            </a:pPr>
            <a:r>
              <a:rPr lang="en-US" sz="900" dirty="0">
                <a:solidFill>
                  <a:srgbClr val="02C39A"/>
                </a:solidFill>
                <a:latin typeface="Consolas" pitchFamily="34" charset="0"/>
                <a:ea typeface="Consolas" pitchFamily="34" charset="-122"/>
                <a:cs typeface="Consolas" pitchFamily="34" charset="-120"/>
              </a:rPr>
              <a:t>./lambda_testing/run_lambda_tests.sh</a:t>
            </a:r>
            <a:endParaRPr lang="en-US" sz="900" dirty="0"/>
          </a:p>
        </p:txBody>
      </p:sp>
      <p:sp>
        <p:nvSpPr>
          <p:cNvPr id="30" name="Shape 28"/>
          <p:cNvSpPr/>
          <p:nvPr/>
        </p:nvSpPr>
        <p:spPr>
          <a:xfrm>
            <a:off x="320040" y="3931920"/>
            <a:ext cx="402336" cy="402336"/>
          </a:xfrm>
          <a:prstGeom prst="oval">
            <a:avLst/>
          </a:prstGeom>
          <a:solidFill>
            <a:srgbClr val="02C39A"/>
          </a:solidFill>
          <a:ln/>
        </p:spPr>
      </p:sp>
      <p:sp>
        <p:nvSpPr>
          <p:cNvPr id="31" name="Text 29"/>
          <p:cNvSpPr/>
          <p:nvPr/>
        </p:nvSpPr>
        <p:spPr>
          <a:xfrm>
            <a:off x="320040" y="3931920"/>
            <a:ext cx="402336" cy="402336"/>
          </a:xfrm>
          <a:prstGeom prst="rect">
            <a:avLst/>
          </a:prstGeom>
          <a:noFill/>
          <a:ln/>
        </p:spPr>
        <p:txBody>
          <a:bodyPr wrap="square" lIns="0" tIns="0" rIns="0" bIns="0" rtlCol="0" anchor="ctr"/>
          <a:lstStyle/>
          <a:p>
            <a:pPr algn="ctr" indent="0" marL="0">
              <a:buNone/>
            </a:pPr>
            <a:r>
              <a:rPr lang="en-US" sz="1300" b="1" dirty="0">
                <a:solidFill>
                  <a:srgbClr val="021526"/>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822960" y="3922776"/>
            <a:ext cx="3749040" cy="219456"/>
          </a:xfrm>
          <a:prstGeom prst="rect">
            <a:avLst/>
          </a:prstGeom>
          <a:noFill/>
          <a:ln/>
        </p:spPr>
        <p:txBody>
          <a:bodyPr wrap="square" lIns="0" tIns="0" rIns="0" bIns="0" rtlCol="0" anchor="ctr"/>
          <a:lstStyle/>
          <a:p>
            <a:pPr indent="0" marL="0">
              <a:buNone/>
            </a:pPr>
            <a:r>
              <a:rPr lang="en-US" sz="950" i="1" dirty="0">
                <a:solidFill>
                  <a:srgbClr val="B8D4E8"/>
                </a:solidFill>
                <a:latin typeface="Calibri" pitchFamily="34" charset="0"/>
                <a:ea typeface="Calibri" pitchFamily="34" charset="-122"/>
                <a:cs typeface="Calibri" pitchFamily="34" charset="-120"/>
              </a:rPr>
              <a:t>Run Lex bot tests</a:t>
            </a:r>
            <a:endParaRPr lang="en-US" sz="950" dirty="0"/>
          </a:p>
        </p:txBody>
      </p:sp>
      <p:sp>
        <p:nvSpPr>
          <p:cNvPr id="33" name="Shape 31"/>
          <p:cNvSpPr/>
          <p:nvPr/>
        </p:nvSpPr>
        <p:spPr>
          <a:xfrm>
            <a:off x="822960" y="4142232"/>
            <a:ext cx="7955280" cy="292608"/>
          </a:xfrm>
          <a:prstGeom prst="rect">
            <a:avLst/>
          </a:prstGeom>
          <a:solidFill>
            <a:srgbClr val="0D2137"/>
          </a:solidFill>
          <a:ln/>
        </p:spPr>
      </p:sp>
      <p:sp>
        <p:nvSpPr>
          <p:cNvPr id="34" name="Text 32"/>
          <p:cNvSpPr/>
          <p:nvPr/>
        </p:nvSpPr>
        <p:spPr>
          <a:xfrm>
            <a:off x="896112" y="4160520"/>
            <a:ext cx="7772400" cy="237744"/>
          </a:xfrm>
          <a:prstGeom prst="rect">
            <a:avLst/>
          </a:prstGeom>
          <a:noFill/>
          <a:ln/>
        </p:spPr>
        <p:txBody>
          <a:bodyPr wrap="square" lIns="0" tIns="0" rIns="0" bIns="0" rtlCol="0" anchor="ctr"/>
          <a:lstStyle/>
          <a:p>
            <a:pPr indent="0" marL="0">
              <a:buNone/>
            </a:pPr>
            <a:r>
              <a:rPr lang="en-US" sz="900" dirty="0">
                <a:solidFill>
                  <a:srgbClr val="02C39A"/>
                </a:solidFill>
                <a:latin typeface="Consolas" pitchFamily="34" charset="0"/>
                <a:ea typeface="Consolas" pitchFamily="34" charset="-122"/>
                <a:cs typeface="Consolas" pitchFamily="34" charset="-120"/>
              </a:rPr>
              <a:t>pytest lex_testing/ -v --html=report.html</a:t>
            </a:r>
            <a:endParaRPr lang="en-US" sz="900" dirty="0"/>
          </a:p>
        </p:txBody>
      </p:sp>
      <p:sp>
        <p:nvSpPr>
          <p:cNvPr id="35" name="Shape 33"/>
          <p:cNvSpPr/>
          <p:nvPr/>
        </p:nvSpPr>
        <p:spPr>
          <a:xfrm>
            <a:off x="201168" y="4754880"/>
            <a:ext cx="8942832" cy="388620"/>
          </a:xfrm>
          <a:prstGeom prst="rect">
            <a:avLst/>
          </a:prstGeom>
          <a:solidFill>
            <a:srgbClr val="1C7293"/>
          </a:solidFill>
          <a:ln/>
        </p:spPr>
      </p:sp>
      <p:sp>
        <p:nvSpPr>
          <p:cNvPr id="36" name="Text 34"/>
          <p:cNvSpPr/>
          <p:nvPr/>
        </p:nvSpPr>
        <p:spPr>
          <a:xfrm>
            <a:off x="365760" y="4773168"/>
            <a:ext cx="8595360" cy="329184"/>
          </a:xfrm>
          <a:prstGeom prst="rect">
            <a:avLst/>
          </a:prstGeom>
          <a:noFill/>
          <a:ln/>
        </p:spPr>
        <p:txBody>
          <a:bodyPr wrap="square" lIns="0" tIns="0" rIns="0" bIns="0" rtlCol="0" anchor="ctr"/>
          <a:lstStyle/>
          <a:p>
            <a:pPr algn="ctr" indent="0" marL="0">
              <a:buNone/>
            </a:pPr>
            <a:r>
              <a:rPr lang="en-US" sz="900" dirty="0">
                <a:solidFill>
                  <a:srgbClr val="B8D4E8"/>
                </a:solidFill>
                <a:latin typeface="Calibri" pitchFamily="34" charset="0"/>
                <a:ea typeface="Calibri" pitchFamily="34" charset="-122"/>
                <a:cs typeface="Calibri" pitchFamily="34" charset="-120"/>
              </a:rPr>
              <a:t>github.com/alokkulkarni/amazon_connect_testing  ·  MIT License  ·  Contributions welcome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Connect Automation Testing Framework</dc:title>
  <dc:subject>Automated testing suite for voice flows, Lambda, and Lex bots</dc:subject>
  <dc:creator>Amazon Connect Testing Team</dc:creator>
  <cp:lastModifiedBy>Amazon Connect Testing Team</cp:lastModifiedBy>
  <cp:revision>1</cp:revision>
  <dcterms:created xsi:type="dcterms:W3CDTF">2026-02-25T09:42:32Z</dcterms:created>
  <dcterms:modified xsi:type="dcterms:W3CDTF">2026-02-25T09:42:32Z</dcterms:modified>
</cp:coreProperties>
</file>